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12192000"/>
  <p:notesSz cx="6858000" cy="9144000"/>
  <p:embeddedFontLst>
    <p:embeddedFont>
      <p:font typeface="Play"/>
      <p:regular r:id="rId20"/>
      <p:bold r:id="rId21"/>
    </p:embeddedFont>
    <p:embeddedFont>
      <p:font typeface="Roboto"/>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6" roundtripDataSignature="AMtx7mg7hj/n33lAB3s/JdORK7MkbXr22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lay-regular.fntdata"/><Relationship Id="rId22" Type="http://schemas.openxmlformats.org/officeDocument/2006/relationships/font" Target="fonts/Roboto-regular.fntdata"/><Relationship Id="rId21" Type="http://schemas.openxmlformats.org/officeDocument/2006/relationships/font" Target="fonts/Play-bold.fntdata"/><Relationship Id="rId24" Type="http://schemas.openxmlformats.org/officeDocument/2006/relationships/font" Target="fonts/Roboto-italic.fntdata"/><Relationship Id="rId23" Type="http://schemas.openxmlformats.org/officeDocument/2006/relationships/font" Target="fonts/Roboto-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customschemas.google.com/relationships/presentationmetadata" Target="metadata"/><Relationship Id="rId25" Type="http://schemas.openxmlformats.org/officeDocument/2006/relationships/font" Target="fonts/Robo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d5b2b5e3c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g2d5b2b5e3c8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d75afc7928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3" name="Google Shape;153;g2d75afc7928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d5b2b5e3c8_0_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2" name="Google Shape;162;g2d5b2b5e3c8_0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d75afc7928_0_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2" name="Google Shape;172;g2d75afc7928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d75afc7928_0_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Calibri"/>
                <a:ea typeface="Calibri"/>
                <a:cs typeface="Calibri"/>
                <a:sym typeface="Calibri"/>
              </a:rPr>
              <a:t>Our leadership team is dedicated to creating a supportive and inclusive space for all members. Join our team and make an impact! Apply for open roles today!</a:t>
            </a:r>
            <a:endParaRPr>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3200">
              <a:latin typeface="Calibri"/>
              <a:ea typeface="Calibri"/>
              <a:cs typeface="Calibri"/>
              <a:sym typeface="Calibri"/>
            </a:endParaRPr>
          </a:p>
        </p:txBody>
      </p:sp>
      <p:sp>
        <p:nvSpPr>
          <p:cNvPr id="181" name="Google Shape;181;g2d75afc7928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d75afc7928_0_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3" name="Google Shape;193;g2d75afc7928_0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2d75afc7928_0_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2" name="Google Shape;202;g2d75afc7928_0_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d75afc7928_0_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2" name="Google Shape;212;g2d75afc7928_0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2d75afc7928_0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g2d75afc7928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28a811bf00_1_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0" name="Google Shape;230;g328a811bf00_1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28a811bf00_1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9" name="Google Shape;239;g328a811bf00_1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2d75afc7928_0_7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8" name="Google Shape;248;g2d75afc7928_0_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2d5b2b5e3c8_0_1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7" name="Google Shape;257;g2d5b2b5e3c8_0_1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2248793e7f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g32248793e7f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5" name="Google Shape;265;g32248793e7f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g311fd835375_0_89"/>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rm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sp>
        <p:nvSpPr>
          <p:cNvPr id="15" name="Google Shape;15;g311fd835375_0_89"/>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6" name="Google Shape;16;g311fd835375_0_89"/>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g311fd835375_0_93"/>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rm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19" name="Google Shape;19;g311fd835375_0_93"/>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g311fd835375_0_96"/>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2" name="Google Shape;22;g311fd835375_0_96"/>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23" name="Google Shape;23;g311fd835375_0_96"/>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g311fd835375_0_100"/>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6" name="Google Shape;26;g311fd835375_0_100"/>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27" name="Google Shape;27;g311fd835375_0_100"/>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28" name="Google Shape;28;g311fd835375_0_100"/>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g311fd835375_0_105"/>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31" name="Google Shape;31;g311fd835375_0_105"/>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g311fd835375_0_108"/>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rm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34" name="Google Shape;34;g311fd835375_0_108"/>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rmAutofit/>
          </a:bodyPr>
          <a:lstStyle>
            <a:lvl1pPr indent="-330200" lvl="0" marL="457200" algn="l">
              <a:lnSpc>
                <a:spcPct val="115000"/>
              </a:lnSpc>
              <a:spcBef>
                <a:spcPts val="0"/>
              </a:spcBef>
              <a:spcAft>
                <a:spcPts val="0"/>
              </a:spcAft>
              <a:buSzPts val="1600"/>
              <a:buChar char="●"/>
              <a:defRPr sz="16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35" name="Google Shape;35;g311fd835375_0_108"/>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g311fd835375_0_112"/>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rm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p:txBody>
      </p:sp>
      <p:sp>
        <p:nvSpPr>
          <p:cNvPr id="38" name="Google Shape;38;g311fd835375_0_112"/>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g311fd835375_0_115"/>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g311fd835375_0_115"/>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42" name="Google Shape;42;g311fd835375_0_115"/>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3" name="Google Shape;43;g311fd835375_0_115"/>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44" name="Google Shape;44;g311fd835375_0_115"/>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g311fd835375_0_121"/>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rmAutofit/>
          </a:bodyPr>
          <a:lstStyle>
            <a:lvl1pPr indent="-228600" lvl="0" marL="457200" algn="l">
              <a:lnSpc>
                <a:spcPct val="100000"/>
              </a:lnSpc>
              <a:spcBef>
                <a:spcPts val="0"/>
              </a:spcBef>
              <a:spcAft>
                <a:spcPts val="0"/>
              </a:spcAft>
              <a:buSzPts val="2400"/>
              <a:buNone/>
              <a:defRPr/>
            </a:lvl1pPr>
          </a:lstStyle>
          <a:p/>
        </p:txBody>
      </p:sp>
      <p:sp>
        <p:nvSpPr>
          <p:cNvPr id="47" name="Google Shape;47;g311fd835375_0_12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g311fd835375_0_124"/>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rm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50" name="Google Shape;50;g311fd835375_0_124"/>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rmAutofit/>
          </a:bodyPr>
          <a:lstStyle>
            <a:lvl1pPr indent="-381000" lvl="0" marL="457200" algn="ctr">
              <a:lnSpc>
                <a:spcPct val="115000"/>
              </a:lnSpc>
              <a:spcBef>
                <a:spcPts val="0"/>
              </a:spcBef>
              <a:spcAft>
                <a:spcPts val="0"/>
              </a:spcAft>
              <a:buSzPts val="2400"/>
              <a:buChar char="●"/>
              <a:defRPr/>
            </a:lvl1pPr>
            <a:lvl2pPr indent="-349250" lvl="1" marL="914400" algn="ctr">
              <a:lnSpc>
                <a:spcPct val="115000"/>
              </a:lnSpc>
              <a:spcBef>
                <a:spcPts val="0"/>
              </a:spcBef>
              <a:spcAft>
                <a:spcPts val="0"/>
              </a:spcAft>
              <a:buSzPts val="1900"/>
              <a:buChar char="○"/>
              <a:defRPr/>
            </a:lvl2pPr>
            <a:lvl3pPr indent="-349250" lvl="2" marL="1371600" algn="ctr">
              <a:lnSpc>
                <a:spcPct val="115000"/>
              </a:lnSpc>
              <a:spcBef>
                <a:spcPts val="0"/>
              </a:spcBef>
              <a:spcAft>
                <a:spcPts val="0"/>
              </a:spcAft>
              <a:buSzPts val="1900"/>
              <a:buChar char="■"/>
              <a:defRPr/>
            </a:lvl3pPr>
            <a:lvl4pPr indent="-349250" lvl="3" marL="1828800" algn="ctr">
              <a:lnSpc>
                <a:spcPct val="115000"/>
              </a:lnSpc>
              <a:spcBef>
                <a:spcPts val="0"/>
              </a:spcBef>
              <a:spcAft>
                <a:spcPts val="0"/>
              </a:spcAft>
              <a:buSzPts val="1900"/>
              <a:buChar char="●"/>
              <a:defRPr/>
            </a:lvl4pPr>
            <a:lvl5pPr indent="-349250" lvl="4" marL="2286000" algn="ctr">
              <a:lnSpc>
                <a:spcPct val="115000"/>
              </a:lnSpc>
              <a:spcBef>
                <a:spcPts val="0"/>
              </a:spcBef>
              <a:spcAft>
                <a:spcPts val="0"/>
              </a:spcAft>
              <a:buSzPts val="1900"/>
              <a:buChar char="○"/>
              <a:defRPr/>
            </a:lvl5pPr>
            <a:lvl6pPr indent="-349250" lvl="5" marL="2743200" algn="ctr">
              <a:lnSpc>
                <a:spcPct val="115000"/>
              </a:lnSpc>
              <a:spcBef>
                <a:spcPts val="0"/>
              </a:spcBef>
              <a:spcAft>
                <a:spcPts val="0"/>
              </a:spcAft>
              <a:buSzPts val="1900"/>
              <a:buChar char="■"/>
              <a:defRPr/>
            </a:lvl6pPr>
            <a:lvl7pPr indent="-349250" lvl="6" marL="3200400" algn="ctr">
              <a:lnSpc>
                <a:spcPct val="115000"/>
              </a:lnSpc>
              <a:spcBef>
                <a:spcPts val="0"/>
              </a:spcBef>
              <a:spcAft>
                <a:spcPts val="0"/>
              </a:spcAft>
              <a:buSzPts val="1900"/>
              <a:buChar char="●"/>
              <a:defRPr/>
            </a:lvl7pPr>
            <a:lvl8pPr indent="-349250" lvl="7" marL="3657600" algn="ctr">
              <a:lnSpc>
                <a:spcPct val="115000"/>
              </a:lnSpc>
              <a:spcBef>
                <a:spcPts val="0"/>
              </a:spcBef>
              <a:spcAft>
                <a:spcPts val="0"/>
              </a:spcAft>
              <a:buSzPts val="1900"/>
              <a:buChar char="○"/>
              <a:defRPr/>
            </a:lvl8pPr>
            <a:lvl9pPr indent="-349250" lvl="8" marL="4114800" algn="ctr">
              <a:lnSpc>
                <a:spcPct val="115000"/>
              </a:lnSpc>
              <a:spcBef>
                <a:spcPts val="0"/>
              </a:spcBef>
              <a:spcAft>
                <a:spcPts val="0"/>
              </a:spcAft>
              <a:buSzPts val="1900"/>
              <a:buChar char="■"/>
              <a:defRPr/>
            </a:lvl9pPr>
          </a:lstStyle>
          <a:p/>
        </p:txBody>
      </p:sp>
      <p:sp>
        <p:nvSpPr>
          <p:cNvPr id="51" name="Google Shape;51;g311fd835375_0_124"/>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g311fd835375_0_128"/>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4" name="Shape 54"/>
        <p:cNvGrpSpPr/>
        <p:nvPr/>
      </p:nvGrpSpPr>
      <p:grpSpPr>
        <a:xfrm>
          <a:off x="0" y="0"/>
          <a:ext cx="0" cy="0"/>
          <a:chOff x="0" y="0"/>
          <a:chExt cx="0" cy="0"/>
        </a:xfrm>
      </p:grpSpPr>
      <p:sp>
        <p:nvSpPr>
          <p:cNvPr id="55" name="Google Shape;55;g311fd835375_0_13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56" name="Google Shape;56;g311fd835375_0_13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9250" lvl="0" marL="457200" algn="l">
              <a:lnSpc>
                <a:spcPct val="90000"/>
              </a:lnSpc>
              <a:spcBef>
                <a:spcPts val="1100"/>
              </a:spcBef>
              <a:spcAft>
                <a:spcPts val="0"/>
              </a:spcAft>
              <a:buClr>
                <a:schemeClr val="dk1"/>
              </a:buClr>
              <a:buSzPts val="1900"/>
              <a:buChar char="•"/>
              <a:defRPr/>
            </a:lvl1pPr>
            <a:lvl2pPr indent="-349250" lvl="1" marL="914400" algn="l">
              <a:lnSpc>
                <a:spcPct val="90000"/>
              </a:lnSpc>
              <a:spcBef>
                <a:spcPts val="500"/>
              </a:spcBef>
              <a:spcAft>
                <a:spcPts val="0"/>
              </a:spcAft>
              <a:buClr>
                <a:schemeClr val="dk1"/>
              </a:buClr>
              <a:buSzPts val="1900"/>
              <a:buChar char="•"/>
              <a:defRPr/>
            </a:lvl2pPr>
            <a:lvl3pPr indent="-349250" lvl="2" marL="1371600" algn="l">
              <a:lnSpc>
                <a:spcPct val="90000"/>
              </a:lnSpc>
              <a:spcBef>
                <a:spcPts val="500"/>
              </a:spcBef>
              <a:spcAft>
                <a:spcPts val="0"/>
              </a:spcAft>
              <a:buClr>
                <a:schemeClr val="dk1"/>
              </a:buClr>
              <a:buSzPts val="1900"/>
              <a:buChar char="•"/>
              <a:defRPr/>
            </a:lvl3pPr>
            <a:lvl4pPr indent="-349250" lvl="3" marL="1828800" algn="l">
              <a:lnSpc>
                <a:spcPct val="90000"/>
              </a:lnSpc>
              <a:spcBef>
                <a:spcPts val="500"/>
              </a:spcBef>
              <a:spcAft>
                <a:spcPts val="0"/>
              </a:spcAft>
              <a:buClr>
                <a:schemeClr val="dk1"/>
              </a:buClr>
              <a:buSzPts val="1900"/>
              <a:buChar char="•"/>
              <a:defRPr/>
            </a:lvl4pPr>
            <a:lvl5pPr indent="-349250" lvl="4" marL="2286000" algn="l">
              <a:lnSpc>
                <a:spcPct val="90000"/>
              </a:lnSpc>
              <a:spcBef>
                <a:spcPts val="500"/>
              </a:spcBef>
              <a:spcAft>
                <a:spcPts val="0"/>
              </a:spcAft>
              <a:buClr>
                <a:schemeClr val="dk1"/>
              </a:buClr>
              <a:buSzPts val="1900"/>
              <a:buChar char="•"/>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57" name="Google Shape;57;g311fd835375_0_13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58" name="Google Shape;58;g311fd835375_0_13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59" name="Google Shape;59;g311fd835375_0_13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g311fd835375_0_55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g311fd835375_0_55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g311fd835375_0_557"/>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g311fd835375_0_55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g311fd835375_0_55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2" name="Shape 72"/>
        <p:cNvGrpSpPr/>
        <p:nvPr/>
      </p:nvGrpSpPr>
      <p:grpSpPr>
        <a:xfrm>
          <a:off x="0" y="0"/>
          <a:ext cx="0" cy="0"/>
          <a:chOff x="0" y="0"/>
          <a:chExt cx="0" cy="0"/>
        </a:xfrm>
      </p:grpSpPr>
      <p:sp>
        <p:nvSpPr>
          <p:cNvPr id="73" name="Google Shape;73;g311fd835375_0_59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g311fd835375_0_59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g311fd835375_0_59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6" name="Shape 76"/>
        <p:cNvGrpSpPr/>
        <p:nvPr/>
      </p:nvGrpSpPr>
      <p:grpSpPr>
        <a:xfrm>
          <a:off x="0" y="0"/>
          <a:ext cx="0" cy="0"/>
          <a:chOff x="0" y="0"/>
          <a:chExt cx="0" cy="0"/>
        </a:xfrm>
      </p:grpSpPr>
      <p:sp>
        <p:nvSpPr>
          <p:cNvPr id="77" name="Google Shape;77;g311fd835375_0_551"/>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g311fd835375_0_551"/>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79" name="Google Shape;79;g311fd835375_0_55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g311fd835375_0_55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g311fd835375_0_55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2" name="Shape 82"/>
        <p:cNvGrpSpPr/>
        <p:nvPr/>
      </p:nvGrpSpPr>
      <p:grpSpPr>
        <a:xfrm>
          <a:off x="0" y="0"/>
          <a:ext cx="0" cy="0"/>
          <a:chOff x="0" y="0"/>
          <a:chExt cx="0" cy="0"/>
        </a:xfrm>
      </p:grpSpPr>
      <p:sp>
        <p:nvSpPr>
          <p:cNvPr id="83" name="Google Shape;83;g311fd835375_0_563"/>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g311fd835375_0_563"/>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85" name="Google Shape;85;g311fd835375_0_56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g311fd835375_0_56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g311fd835375_0_56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8" name="Shape 88"/>
        <p:cNvGrpSpPr/>
        <p:nvPr/>
      </p:nvGrpSpPr>
      <p:grpSpPr>
        <a:xfrm>
          <a:off x="0" y="0"/>
          <a:ext cx="0" cy="0"/>
          <a:chOff x="0" y="0"/>
          <a:chExt cx="0" cy="0"/>
        </a:xfrm>
      </p:grpSpPr>
      <p:sp>
        <p:nvSpPr>
          <p:cNvPr id="89" name="Google Shape;89;g311fd835375_0_56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g311fd835375_0_569"/>
          <p:cNvSpPr txBox="1"/>
          <p:nvPr>
            <p:ph idx="1" type="body"/>
          </p:nvPr>
        </p:nvSpPr>
        <p:spPr>
          <a:xfrm>
            <a:off x="838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g311fd835375_0_569"/>
          <p:cNvSpPr txBox="1"/>
          <p:nvPr>
            <p:ph idx="2" type="body"/>
          </p:nvPr>
        </p:nvSpPr>
        <p:spPr>
          <a:xfrm>
            <a:off x="6172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 name="Google Shape;92;g311fd835375_0_569"/>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g311fd835375_0_56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g311fd835375_0_56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5" name="Shape 95"/>
        <p:cNvGrpSpPr/>
        <p:nvPr/>
      </p:nvGrpSpPr>
      <p:grpSpPr>
        <a:xfrm>
          <a:off x="0" y="0"/>
          <a:ext cx="0" cy="0"/>
          <a:chOff x="0" y="0"/>
          <a:chExt cx="0" cy="0"/>
        </a:xfrm>
      </p:grpSpPr>
      <p:sp>
        <p:nvSpPr>
          <p:cNvPr id="96" name="Google Shape;96;g311fd835375_0_576"/>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g311fd835375_0_576"/>
          <p:cNvSpPr txBox="1"/>
          <p:nvPr>
            <p:ph idx="1" type="body"/>
          </p:nvPr>
        </p:nvSpPr>
        <p:spPr>
          <a:xfrm>
            <a:off x="839788" y="1681163"/>
            <a:ext cx="5157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98" name="Google Shape;98;g311fd835375_0_576"/>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 name="Google Shape;99;g311fd835375_0_576"/>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00" name="Google Shape;100;g311fd835375_0_576"/>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1" name="Google Shape;101;g311fd835375_0_57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g311fd835375_0_57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g311fd835375_0_57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4" name="Shape 104"/>
        <p:cNvGrpSpPr/>
        <p:nvPr/>
      </p:nvGrpSpPr>
      <p:grpSpPr>
        <a:xfrm>
          <a:off x="0" y="0"/>
          <a:ext cx="0" cy="0"/>
          <a:chOff x="0" y="0"/>
          <a:chExt cx="0" cy="0"/>
        </a:xfrm>
      </p:grpSpPr>
      <p:sp>
        <p:nvSpPr>
          <p:cNvPr id="105" name="Google Shape;105;g311fd835375_0_58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g311fd835375_0_58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g311fd835375_0_58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g311fd835375_0_58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9" name="Shape 109"/>
        <p:cNvGrpSpPr/>
        <p:nvPr/>
      </p:nvGrpSpPr>
      <p:grpSpPr>
        <a:xfrm>
          <a:off x="0" y="0"/>
          <a:ext cx="0" cy="0"/>
          <a:chOff x="0" y="0"/>
          <a:chExt cx="0" cy="0"/>
        </a:xfrm>
      </p:grpSpPr>
      <p:sp>
        <p:nvSpPr>
          <p:cNvPr id="110" name="Google Shape;110;g311fd835375_0_594"/>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g311fd835375_0_594"/>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12" name="Google Shape;112;g311fd835375_0_594"/>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13" name="Google Shape;113;g311fd835375_0_59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g311fd835375_0_59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g311fd835375_0_59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16" name="Shape 116"/>
        <p:cNvGrpSpPr/>
        <p:nvPr/>
      </p:nvGrpSpPr>
      <p:grpSpPr>
        <a:xfrm>
          <a:off x="0" y="0"/>
          <a:ext cx="0" cy="0"/>
          <a:chOff x="0" y="0"/>
          <a:chExt cx="0" cy="0"/>
        </a:xfrm>
      </p:grpSpPr>
      <p:sp>
        <p:nvSpPr>
          <p:cNvPr id="117" name="Google Shape;117;g311fd835375_0_601"/>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g311fd835375_0_601"/>
          <p:cNvSpPr/>
          <p:nvPr>
            <p:ph idx="2" type="pic"/>
          </p:nvPr>
        </p:nvSpPr>
        <p:spPr>
          <a:xfrm>
            <a:off x="5183188" y="987425"/>
            <a:ext cx="6172200" cy="4873500"/>
          </a:xfrm>
          <a:prstGeom prst="rect">
            <a:avLst/>
          </a:prstGeom>
          <a:noFill/>
          <a:ln>
            <a:noFill/>
          </a:ln>
        </p:spPr>
      </p:sp>
      <p:sp>
        <p:nvSpPr>
          <p:cNvPr id="119" name="Google Shape;119;g311fd835375_0_601"/>
          <p:cNvSpPr txBox="1"/>
          <p:nvPr>
            <p:ph idx="1"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20" name="Google Shape;120;g311fd835375_0_60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g311fd835375_0_60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g311fd835375_0_60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3" name="Shape 123"/>
        <p:cNvGrpSpPr/>
        <p:nvPr/>
      </p:nvGrpSpPr>
      <p:grpSpPr>
        <a:xfrm>
          <a:off x="0" y="0"/>
          <a:ext cx="0" cy="0"/>
          <a:chOff x="0" y="0"/>
          <a:chExt cx="0" cy="0"/>
        </a:xfrm>
      </p:grpSpPr>
      <p:sp>
        <p:nvSpPr>
          <p:cNvPr id="124" name="Google Shape;124;g311fd835375_0_60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g311fd835375_0_608"/>
          <p:cNvSpPr txBox="1"/>
          <p:nvPr>
            <p:ph idx="1" type="body"/>
          </p:nvPr>
        </p:nvSpPr>
        <p:spPr>
          <a:xfrm rot="5400000">
            <a:off x="3920400" y="-1256575"/>
            <a:ext cx="4351200"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 name="Google Shape;126;g311fd835375_0_60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g311fd835375_0_60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g311fd835375_0_60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9" name="Shape 129"/>
        <p:cNvGrpSpPr/>
        <p:nvPr/>
      </p:nvGrpSpPr>
      <p:grpSpPr>
        <a:xfrm>
          <a:off x="0" y="0"/>
          <a:ext cx="0" cy="0"/>
          <a:chOff x="0" y="0"/>
          <a:chExt cx="0" cy="0"/>
        </a:xfrm>
      </p:grpSpPr>
      <p:sp>
        <p:nvSpPr>
          <p:cNvPr id="130" name="Google Shape;130;g311fd835375_0_614"/>
          <p:cNvSpPr txBox="1"/>
          <p:nvPr>
            <p:ph type="title"/>
          </p:nvPr>
        </p:nvSpPr>
        <p:spPr>
          <a:xfrm rot="5400000">
            <a:off x="7133400" y="1956625"/>
            <a:ext cx="5811900"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g311fd835375_0_614"/>
          <p:cNvSpPr txBox="1"/>
          <p:nvPr>
            <p:ph idx="1" type="body"/>
          </p:nvPr>
        </p:nvSpPr>
        <p:spPr>
          <a:xfrm rot="5400000">
            <a:off x="1799400" y="-596075"/>
            <a:ext cx="5811900"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2" name="Google Shape;132;g311fd835375_0_61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g311fd835375_0_61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g311fd835375_0_61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2" Type="http://schemas.openxmlformats.org/officeDocument/2006/relationships/theme" Target="../theme/theme1.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 name="Shape 9"/>
        <p:cNvGrpSpPr/>
        <p:nvPr/>
      </p:nvGrpSpPr>
      <p:grpSpPr>
        <a:xfrm>
          <a:off x="0" y="0"/>
          <a:ext cx="0" cy="0"/>
          <a:chOff x="0" y="0"/>
          <a:chExt cx="0" cy="0"/>
        </a:xfrm>
      </p:grpSpPr>
      <p:sp>
        <p:nvSpPr>
          <p:cNvPr id="10" name="Google Shape;10;g311fd835375_0_85"/>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11" name="Google Shape;11;g311fd835375_0_85"/>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marR="0" rtl="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12" name="Google Shape;12;g311fd835375_0_85"/>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 name="Shape 60"/>
        <p:cNvGrpSpPr/>
        <p:nvPr/>
      </p:nvGrpSpPr>
      <p:grpSpPr>
        <a:xfrm>
          <a:off x="0" y="0"/>
          <a:ext cx="0" cy="0"/>
          <a:chOff x="0" y="0"/>
          <a:chExt cx="0" cy="0"/>
        </a:xfrm>
      </p:grpSpPr>
      <p:sp>
        <p:nvSpPr>
          <p:cNvPr id="61" name="Google Shape;61;g311fd835375_0_54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2" name="Google Shape;62;g311fd835375_0_545"/>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63" name="Google Shape;63;g311fd835375_0_54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64" name="Google Shape;64;g311fd835375_0_54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65" name="Google Shape;65;g311fd835375_0_54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image" Target="../media/image1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11.png"/><Relationship Id="rId5" Type="http://schemas.openxmlformats.org/officeDocument/2006/relationships/image" Target="../media/image5.png"/><Relationship Id="rId6" Type="http://schemas.openxmlformats.org/officeDocument/2006/relationships/image" Target="../media/image7.png"/><Relationship Id="rId7" Type="http://schemas.openxmlformats.org/officeDocument/2006/relationships/image" Target="../media/image1.png"/><Relationship Id="rId8"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2d5b2b5e3c8_0_0"/>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140" name="Google Shape;140;g2d5b2b5e3c8_0_0"/>
          <p:cNvSpPr/>
          <p:nvPr/>
        </p:nvSpPr>
        <p:spPr>
          <a:xfrm>
            <a:off x="0" y="0"/>
            <a:ext cx="4959047" cy="6858000"/>
          </a:xfrm>
          <a:custGeom>
            <a:rect b="b" l="l" r="r" t="t"/>
            <a:pathLst>
              <a:path extrusionOk="0" h="6858000" w="4959047">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solidFill>
            <a:schemeClr val="lt1"/>
          </a:solidFill>
          <a:ln cap="flat" cmpd="sng" w="9525">
            <a:solidFill>
              <a:srgbClr val="D9E5F8"/>
            </a:solidFill>
            <a:prstDash val="solid"/>
            <a:miter lim="800000"/>
            <a:headEnd len="sm" w="sm" type="none"/>
            <a:tailEnd len="sm" w="sm" type="none"/>
          </a:ln>
          <a:effectLst>
            <a:outerShdw blurRad="50800" rotWithShape="0" algn="l" dist="38100">
              <a:srgbClr val="D8D8D8">
                <a:alpha val="2862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900"/>
              <a:buFont typeface="Arial"/>
              <a:buNone/>
            </a:pPr>
            <a:r>
              <a:t/>
            </a:r>
            <a:endParaRPr b="0" i="0" sz="1900" u="none" cap="none" strike="noStrike">
              <a:solidFill>
                <a:srgbClr val="FFFFFF"/>
              </a:solidFill>
              <a:latin typeface="Calibri"/>
              <a:ea typeface="Calibri"/>
              <a:cs typeface="Calibri"/>
              <a:sym typeface="Calibri"/>
            </a:endParaRPr>
          </a:p>
        </p:txBody>
      </p:sp>
      <p:sp>
        <p:nvSpPr>
          <p:cNvPr id="141" name="Google Shape;141;g2d5b2b5e3c8_0_0"/>
          <p:cNvSpPr/>
          <p:nvPr/>
        </p:nvSpPr>
        <p:spPr>
          <a:xfrm>
            <a:off x="0" y="0"/>
            <a:ext cx="4948887" cy="6858000"/>
          </a:xfrm>
          <a:custGeom>
            <a:rect b="b" l="l" r="r" t="t"/>
            <a:pathLst>
              <a:path extrusionOk="0" h="6858000" w="4948887">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900"/>
              <a:buFont typeface="Arial"/>
              <a:buNone/>
            </a:pPr>
            <a:r>
              <a:t/>
            </a:r>
            <a:endParaRPr b="0" i="0" sz="1900" u="none" cap="none" strike="noStrike">
              <a:solidFill>
                <a:srgbClr val="FFFFFF"/>
              </a:solidFill>
              <a:latin typeface="Calibri"/>
              <a:ea typeface="Calibri"/>
              <a:cs typeface="Calibri"/>
              <a:sym typeface="Calibri"/>
            </a:endParaRPr>
          </a:p>
        </p:txBody>
      </p:sp>
      <p:sp>
        <p:nvSpPr>
          <p:cNvPr id="142" name="Google Shape;142;g2d5b2b5e3c8_0_0"/>
          <p:cNvSpPr txBox="1"/>
          <p:nvPr>
            <p:ph type="ctrTitle"/>
          </p:nvPr>
        </p:nvSpPr>
        <p:spPr>
          <a:xfrm>
            <a:off x="477981" y="1122363"/>
            <a:ext cx="4023300" cy="32040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Play"/>
              <a:buNone/>
            </a:pPr>
            <a:r>
              <a:rPr lang="en-US" sz="4400">
                <a:latin typeface="Calibri"/>
                <a:ea typeface="Calibri"/>
                <a:cs typeface="Calibri"/>
                <a:sym typeface="Calibri"/>
              </a:rPr>
              <a:t>Welcome to Code Crunch!</a:t>
            </a:r>
            <a:endParaRPr/>
          </a:p>
        </p:txBody>
      </p:sp>
      <p:sp>
        <p:nvSpPr>
          <p:cNvPr id="143" name="Google Shape;143;g2d5b2b5e3c8_0_0"/>
          <p:cNvSpPr/>
          <p:nvPr/>
        </p:nvSpPr>
        <p:spPr>
          <a:xfrm>
            <a:off x="481029" y="4546920"/>
            <a:ext cx="4023300" cy="18300"/>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900"/>
              <a:buFont typeface="Arial"/>
              <a:buNone/>
            </a:pPr>
            <a:r>
              <a:t/>
            </a:r>
            <a:endParaRPr b="0" i="0" sz="1900" u="none" cap="none" strike="noStrike">
              <a:solidFill>
                <a:srgbClr val="FFFFFF"/>
              </a:solidFill>
              <a:latin typeface="Calibri"/>
              <a:ea typeface="Calibri"/>
              <a:cs typeface="Calibri"/>
              <a:sym typeface="Calibri"/>
            </a:endParaRPr>
          </a:p>
        </p:txBody>
      </p:sp>
      <p:sp>
        <p:nvSpPr>
          <p:cNvPr id="144" name="Google Shape;144;g2d5b2b5e3c8_0_0"/>
          <p:cNvSpPr txBox="1"/>
          <p:nvPr/>
        </p:nvSpPr>
        <p:spPr>
          <a:xfrm>
            <a:off x="987333" y="6257233"/>
            <a:ext cx="3122700" cy="4896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linktr.ee/CODE.CRUNCH</a:t>
            </a:r>
            <a:endParaRPr b="0" i="0" sz="2000" u="none" cap="none" strike="noStrike">
              <a:solidFill>
                <a:srgbClr val="000000"/>
              </a:solidFill>
              <a:latin typeface="Arial"/>
              <a:ea typeface="Arial"/>
              <a:cs typeface="Arial"/>
              <a:sym typeface="Arial"/>
            </a:endParaRPr>
          </a:p>
        </p:txBody>
      </p:sp>
      <p:sp>
        <p:nvSpPr>
          <p:cNvPr id="145" name="Google Shape;145;g2d5b2b5e3c8_0_0"/>
          <p:cNvSpPr txBox="1"/>
          <p:nvPr/>
        </p:nvSpPr>
        <p:spPr>
          <a:xfrm>
            <a:off x="380333" y="5155533"/>
            <a:ext cx="2070900" cy="657900"/>
          </a:xfrm>
          <a:prstGeom prst="rect">
            <a:avLst/>
          </a:prstGeom>
          <a:noFill/>
          <a:ln>
            <a:noFill/>
          </a:ln>
        </p:spPr>
        <p:txBody>
          <a:bodyPr anchorCtr="0" anchor="t" bIns="45700" lIns="91425" spcFirstLastPara="1" rIns="91425" wrap="square" tIns="45700">
            <a:normAutofit fontScale="32500" lnSpcReduction="10000"/>
          </a:bodyPr>
          <a:lstStyle/>
          <a:p>
            <a:pPr indent="0" lvl="0" marL="0" marR="0" rtl="0" algn="l">
              <a:lnSpc>
                <a:spcPct val="100000"/>
              </a:lnSpc>
              <a:spcBef>
                <a:spcPts val="0"/>
              </a:spcBef>
              <a:spcAft>
                <a:spcPts val="0"/>
              </a:spcAft>
              <a:buClr>
                <a:srgbClr val="000000"/>
              </a:buClr>
              <a:buSzPct val="100000"/>
              <a:buFont typeface="Arial"/>
              <a:buNone/>
            </a:pPr>
            <a:r>
              <a:rPr b="1" i="0" lang="en-US" sz="8000" u="none" cap="none" strike="noStrike">
                <a:solidFill>
                  <a:schemeClr val="dk1"/>
                </a:solidFill>
                <a:latin typeface="Arial"/>
                <a:ea typeface="Arial"/>
                <a:cs typeface="Arial"/>
                <a:sym typeface="Arial"/>
              </a:rPr>
              <a:t>Attendance</a:t>
            </a:r>
            <a:r>
              <a:rPr b="1" i="0" lang="en-US" sz="5100" u="none" cap="none" strike="noStrike">
                <a:solidFill>
                  <a:srgbClr val="000000"/>
                </a:solidFill>
                <a:latin typeface="Arial"/>
                <a:ea typeface="Arial"/>
                <a:cs typeface="Arial"/>
                <a:sym typeface="Arial"/>
              </a:rPr>
              <a:t> </a:t>
            </a:r>
            <a:endParaRPr b="1" i="0" sz="5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t/>
            </a:r>
            <a:endParaRPr b="1" i="0" sz="28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b="0" i="0" sz="2000" u="none" cap="none" strike="noStrike">
              <a:solidFill>
                <a:srgbClr val="000000"/>
              </a:solidFill>
              <a:latin typeface="Arial"/>
              <a:ea typeface="Arial"/>
              <a:cs typeface="Arial"/>
              <a:sym typeface="Arial"/>
            </a:endParaRPr>
          </a:p>
        </p:txBody>
      </p:sp>
      <p:pic>
        <p:nvPicPr>
          <p:cNvPr id="146" name="Google Shape;146;g2d5b2b5e3c8_0_0"/>
          <p:cNvPicPr preferRelativeResize="0"/>
          <p:nvPr/>
        </p:nvPicPr>
        <p:blipFill rotWithShape="1">
          <a:blip r:embed="rId3">
            <a:alphaModFix/>
          </a:blip>
          <a:srcRect b="0" l="0" r="0" t="0"/>
          <a:stretch/>
        </p:blipFill>
        <p:spPr>
          <a:xfrm>
            <a:off x="481133" y="6149367"/>
            <a:ext cx="489600" cy="489600"/>
          </a:xfrm>
          <a:prstGeom prst="rect">
            <a:avLst/>
          </a:prstGeom>
          <a:solidFill>
            <a:schemeClr val="lt1"/>
          </a:solidFill>
          <a:ln>
            <a:noFill/>
          </a:ln>
        </p:spPr>
      </p:pic>
      <p:pic>
        <p:nvPicPr>
          <p:cNvPr id="147" name="Google Shape;147;g2d5b2b5e3c8_0_0"/>
          <p:cNvPicPr preferRelativeResize="0"/>
          <p:nvPr/>
        </p:nvPicPr>
        <p:blipFill rotWithShape="1">
          <a:blip r:embed="rId4">
            <a:alphaModFix/>
          </a:blip>
          <a:srcRect b="0" l="0" r="0" t="0"/>
          <a:stretch/>
        </p:blipFill>
        <p:spPr>
          <a:xfrm>
            <a:off x="2717332" y="4687900"/>
            <a:ext cx="1461966" cy="1446766"/>
          </a:xfrm>
          <a:prstGeom prst="rect">
            <a:avLst/>
          </a:prstGeom>
          <a:noFill/>
          <a:ln>
            <a:noFill/>
          </a:ln>
        </p:spPr>
      </p:pic>
      <p:sp>
        <p:nvSpPr>
          <p:cNvPr id="148" name="Google Shape;148;g2d5b2b5e3c8_0_0"/>
          <p:cNvSpPr/>
          <p:nvPr/>
        </p:nvSpPr>
        <p:spPr>
          <a:xfrm>
            <a:off x="5390033" y="0"/>
            <a:ext cx="7233300" cy="68580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49" name="Google Shape;149;g2d5b2b5e3c8_0_0"/>
          <p:cNvSpPr/>
          <p:nvPr/>
        </p:nvSpPr>
        <p:spPr>
          <a:xfrm rot="10800000">
            <a:off x="4059000" y="0"/>
            <a:ext cx="3346600" cy="6858000"/>
          </a:xfrm>
          <a:prstGeom prst="flowChartOnlineStorage">
            <a:avLst/>
          </a:prstGeom>
          <a:solidFill>
            <a:schemeClr val="accent1"/>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pic>
        <p:nvPicPr>
          <p:cNvPr id="150" name="Google Shape;150;g2d5b2b5e3c8_0_0"/>
          <p:cNvPicPr preferRelativeResize="0"/>
          <p:nvPr/>
        </p:nvPicPr>
        <p:blipFill rotWithShape="1">
          <a:blip r:embed="rId5">
            <a:alphaModFix/>
          </a:blip>
          <a:srcRect b="0" l="0" r="0" t="0"/>
          <a:stretch/>
        </p:blipFill>
        <p:spPr>
          <a:xfrm>
            <a:off x="5085767" y="0"/>
            <a:ext cx="6858000"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4" name="Shape 154"/>
        <p:cNvGrpSpPr/>
        <p:nvPr/>
      </p:nvGrpSpPr>
      <p:grpSpPr>
        <a:xfrm>
          <a:off x="0" y="0"/>
          <a:ext cx="0" cy="0"/>
          <a:chOff x="0" y="0"/>
          <a:chExt cx="0" cy="0"/>
        </a:xfrm>
      </p:grpSpPr>
      <p:sp>
        <p:nvSpPr>
          <p:cNvPr id="155" name="Google Shape;155;g2d75afc7928_0_2"/>
          <p:cNvSpPr/>
          <p:nvPr/>
        </p:nvSpPr>
        <p:spPr>
          <a:xfrm>
            <a:off x="0" y="0"/>
            <a:ext cx="121893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156" name="Google Shape;156;g2d75afc7928_0_2"/>
          <p:cNvSpPr txBox="1"/>
          <p:nvPr>
            <p:ph type="title"/>
          </p:nvPr>
        </p:nvSpPr>
        <p:spPr>
          <a:xfrm>
            <a:off x="572493" y="238539"/>
            <a:ext cx="11018400" cy="14343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500"/>
              <a:buFont typeface="Play"/>
              <a:buNone/>
            </a:pPr>
            <a:r>
              <a:rPr lang="en-US">
                <a:latin typeface="Calibri"/>
                <a:ea typeface="Calibri"/>
                <a:cs typeface="Calibri"/>
                <a:sym typeface="Calibri"/>
              </a:rPr>
              <a:t>Welcome to Code Crunch!</a:t>
            </a:r>
            <a:endParaRPr/>
          </a:p>
        </p:txBody>
      </p:sp>
      <p:sp>
        <p:nvSpPr>
          <p:cNvPr id="157" name="Google Shape;157;g2d75afc7928_0_2"/>
          <p:cNvSpPr/>
          <p:nvPr/>
        </p:nvSpPr>
        <p:spPr>
          <a:xfrm>
            <a:off x="572493" y="1681544"/>
            <a:ext cx="10972800" cy="18288"/>
          </a:xfrm>
          <a:custGeom>
            <a:rect b="b" l="l" r="r" t="t"/>
            <a:pathLst>
              <a:path extrusionOk="0" fill="none" h="18288" w="1097280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extrusionOk="0" h="18288" w="1097280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4117"/>
            </a:schemeClr>
          </a:solidFill>
          <a:ln cap="rnd" cmpd="sng" w="44450">
            <a:solidFill>
              <a:schemeClr val="accent2">
                <a:alpha val="74117"/>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158" name="Google Shape;158;g2d75afc7928_0_2"/>
          <p:cNvSpPr txBox="1"/>
          <p:nvPr>
            <p:ph idx="1" type="body"/>
          </p:nvPr>
        </p:nvSpPr>
        <p:spPr>
          <a:xfrm>
            <a:off x="572500" y="2071300"/>
            <a:ext cx="10922400" cy="4119300"/>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115000"/>
              </a:lnSpc>
              <a:spcBef>
                <a:spcPts val="800"/>
              </a:spcBef>
              <a:spcAft>
                <a:spcPts val="0"/>
              </a:spcAft>
              <a:buClr>
                <a:schemeClr val="dk1"/>
              </a:buClr>
              <a:buSzPct val="34375"/>
              <a:buFont typeface="Arial"/>
              <a:buNone/>
            </a:pPr>
            <a:r>
              <a:rPr lang="en-US" sz="3200"/>
              <a:t>•</a:t>
            </a:r>
            <a:r>
              <a:rPr lang="en-US" sz="3200">
                <a:latin typeface="Calibri"/>
                <a:ea typeface="Calibri"/>
                <a:cs typeface="Calibri"/>
                <a:sym typeface="Calibri"/>
              </a:rPr>
              <a:t>Code Crunch is your go-to platform for collaboration, networking, and hands-on projects. We welcome freshmen, graduates, and alumni from any university, regardless of major or experience level.</a:t>
            </a:r>
            <a:endParaRPr sz="3200">
              <a:latin typeface="Calibri"/>
              <a:ea typeface="Calibri"/>
              <a:cs typeface="Calibri"/>
              <a:sym typeface="Calibri"/>
            </a:endParaRPr>
          </a:p>
          <a:p>
            <a:pPr indent="0" lvl="0" marL="0" rtl="0" algn="l">
              <a:lnSpc>
                <a:spcPct val="115000"/>
              </a:lnSpc>
              <a:spcBef>
                <a:spcPts val="0"/>
              </a:spcBef>
              <a:spcAft>
                <a:spcPts val="0"/>
              </a:spcAft>
              <a:buSzPct val="85714"/>
              <a:buNone/>
            </a:pPr>
            <a:r>
              <a:t/>
            </a:r>
            <a:endParaRPr sz="2100"/>
          </a:p>
          <a:p>
            <a:pPr indent="0" lvl="0" marL="0" rtl="0" algn="l">
              <a:lnSpc>
                <a:spcPct val="115000"/>
              </a:lnSpc>
              <a:spcBef>
                <a:spcPts val="0"/>
              </a:spcBef>
              <a:spcAft>
                <a:spcPts val="0"/>
              </a:spcAft>
              <a:buSzPct val="85714"/>
              <a:buNone/>
            </a:pPr>
            <a:r>
              <a:t/>
            </a:r>
            <a:endParaRPr sz="2100"/>
          </a:p>
          <a:p>
            <a:pPr indent="0" lvl="0" marL="0" rtl="0" algn="l">
              <a:lnSpc>
                <a:spcPct val="115000"/>
              </a:lnSpc>
              <a:spcBef>
                <a:spcPts val="800"/>
              </a:spcBef>
              <a:spcAft>
                <a:spcPts val="0"/>
              </a:spcAft>
              <a:buClr>
                <a:schemeClr val="dk1"/>
              </a:buClr>
              <a:buSzPct val="34375"/>
              <a:buFont typeface="Arial"/>
              <a:buNone/>
            </a:pPr>
            <a:r>
              <a:rPr lang="en-US" sz="3200"/>
              <a:t>•</a:t>
            </a:r>
            <a:r>
              <a:rPr lang="en-US" sz="3200">
                <a:latin typeface="Calibri"/>
                <a:ea typeface="Calibri"/>
                <a:cs typeface="Calibri"/>
                <a:sym typeface="Calibri"/>
              </a:rPr>
              <a:t>Join us virtually via Zoom or in person at Florida International University. Together, we’ll break down barriers in technology, learn through immersive workshops, and build innovative solutions.</a:t>
            </a:r>
            <a:endParaRPr sz="3200">
              <a:latin typeface="Calibri"/>
              <a:ea typeface="Calibri"/>
              <a:cs typeface="Calibri"/>
              <a:sym typeface="Calibri"/>
            </a:endParaRPr>
          </a:p>
          <a:p>
            <a:pPr indent="0" lvl="0" marL="0" rtl="0" algn="l">
              <a:lnSpc>
                <a:spcPct val="115000"/>
              </a:lnSpc>
              <a:spcBef>
                <a:spcPts val="0"/>
              </a:spcBef>
              <a:spcAft>
                <a:spcPts val="0"/>
              </a:spcAft>
              <a:buSzPct val="85714"/>
              <a:buNone/>
            </a:pPr>
            <a:r>
              <a:t/>
            </a:r>
            <a:endParaRPr sz="2100"/>
          </a:p>
          <a:p>
            <a:pPr indent="0" lvl="0" marL="0" rtl="0" algn="l">
              <a:lnSpc>
                <a:spcPct val="90000"/>
              </a:lnSpc>
              <a:spcBef>
                <a:spcPts val="0"/>
              </a:spcBef>
              <a:spcAft>
                <a:spcPts val="0"/>
              </a:spcAft>
              <a:buSzPct val="75000"/>
              <a:buNone/>
            </a:pPr>
            <a:r>
              <a:t/>
            </a:r>
            <a:endParaRPr sz="2400"/>
          </a:p>
          <a:p>
            <a:pPr indent="0" lvl="0" marL="457200" rtl="0" algn="l">
              <a:lnSpc>
                <a:spcPct val="90000"/>
              </a:lnSpc>
              <a:spcBef>
                <a:spcPts val="1100"/>
              </a:spcBef>
              <a:spcAft>
                <a:spcPts val="0"/>
              </a:spcAft>
              <a:buSzPct val="64285"/>
              <a:buNone/>
            </a:pPr>
            <a:r>
              <a:rPr lang="en-US"/>
              <a:t> </a:t>
            </a:r>
            <a:endParaRPr/>
          </a:p>
        </p:txBody>
      </p:sp>
      <p:pic>
        <p:nvPicPr>
          <p:cNvPr id="159" name="Google Shape;159;g2d75afc7928_0_2"/>
          <p:cNvPicPr preferRelativeResize="0"/>
          <p:nvPr/>
        </p:nvPicPr>
        <p:blipFill rotWithShape="1">
          <a:blip r:embed="rId3">
            <a:alphaModFix/>
          </a:blip>
          <a:srcRect b="0" l="0" r="0" t="0"/>
          <a:stretch/>
        </p:blipFill>
        <p:spPr>
          <a:xfrm>
            <a:off x="10173375" y="0"/>
            <a:ext cx="2015925" cy="20159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3" name="Shape 163"/>
        <p:cNvGrpSpPr/>
        <p:nvPr/>
      </p:nvGrpSpPr>
      <p:grpSpPr>
        <a:xfrm>
          <a:off x="0" y="0"/>
          <a:ext cx="0" cy="0"/>
          <a:chOff x="0" y="0"/>
          <a:chExt cx="0" cy="0"/>
        </a:xfrm>
      </p:grpSpPr>
      <p:sp>
        <p:nvSpPr>
          <p:cNvPr id="164" name="Google Shape;164;g2d5b2b5e3c8_0_66"/>
          <p:cNvSpPr/>
          <p:nvPr/>
        </p:nvSpPr>
        <p:spPr>
          <a:xfrm>
            <a:off x="0" y="0"/>
            <a:ext cx="121893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165" name="Google Shape;165;g2d5b2b5e3c8_0_66"/>
          <p:cNvSpPr txBox="1"/>
          <p:nvPr>
            <p:ph type="title"/>
          </p:nvPr>
        </p:nvSpPr>
        <p:spPr>
          <a:xfrm>
            <a:off x="572493" y="238539"/>
            <a:ext cx="11018400" cy="14343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500"/>
              <a:buFont typeface="Play"/>
              <a:buNone/>
            </a:pPr>
            <a:r>
              <a:rPr lang="en-US">
                <a:latin typeface="Calibri"/>
                <a:ea typeface="Calibri"/>
                <a:cs typeface="Calibri"/>
                <a:sym typeface="Calibri"/>
              </a:rPr>
              <a:t>Our Mission &amp; Vision</a:t>
            </a:r>
            <a:endParaRPr/>
          </a:p>
        </p:txBody>
      </p:sp>
      <p:sp>
        <p:nvSpPr>
          <p:cNvPr id="166" name="Google Shape;166;g2d5b2b5e3c8_0_66"/>
          <p:cNvSpPr/>
          <p:nvPr/>
        </p:nvSpPr>
        <p:spPr>
          <a:xfrm>
            <a:off x="572493" y="1681544"/>
            <a:ext cx="10972800" cy="18288"/>
          </a:xfrm>
          <a:custGeom>
            <a:rect b="b" l="l" r="r" t="t"/>
            <a:pathLst>
              <a:path extrusionOk="0" fill="none" h="18288" w="1097280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extrusionOk="0" h="18288" w="1097280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3725"/>
            </a:schemeClr>
          </a:solidFill>
          <a:ln cap="rnd" cmpd="sng" w="44450">
            <a:solidFill>
              <a:schemeClr val="accent2">
                <a:alpha val="7372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167" name="Google Shape;167;g2d5b2b5e3c8_0_66"/>
          <p:cNvSpPr txBox="1"/>
          <p:nvPr>
            <p:ph idx="1" type="body"/>
          </p:nvPr>
        </p:nvSpPr>
        <p:spPr>
          <a:xfrm>
            <a:off x="572500" y="2071300"/>
            <a:ext cx="10922400" cy="1927500"/>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90000"/>
              </a:lnSpc>
              <a:spcBef>
                <a:spcPts val="0"/>
              </a:spcBef>
              <a:spcAft>
                <a:spcPts val="0"/>
              </a:spcAft>
              <a:buSzPts val="1800"/>
              <a:buNone/>
            </a:pPr>
            <a:r>
              <a:rPr b="1" lang="en-US" sz="2400"/>
              <a:t>Mission:</a:t>
            </a:r>
            <a:endParaRPr b="1" sz="2400"/>
          </a:p>
          <a:p>
            <a:pPr indent="0" lvl="0" marL="0" rtl="0" algn="l">
              <a:lnSpc>
                <a:spcPct val="90000"/>
              </a:lnSpc>
              <a:spcBef>
                <a:spcPts val="0"/>
              </a:spcBef>
              <a:spcAft>
                <a:spcPts val="0"/>
              </a:spcAft>
              <a:buSzPts val="1800"/>
              <a:buNone/>
            </a:pPr>
            <a:r>
              <a:t/>
            </a:r>
            <a:endParaRPr b="1" sz="2400"/>
          </a:p>
          <a:p>
            <a:pPr indent="0" lvl="0" marL="0" rtl="0" algn="l">
              <a:lnSpc>
                <a:spcPct val="115000"/>
              </a:lnSpc>
              <a:spcBef>
                <a:spcPts val="0"/>
              </a:spcBef>
              <a:spcAft>
                <a:spcPts val="0"/>
              </a:spcAft>
              <a:buSzPts val="1800"/>
              <a:buNone/>
            </a:pPr>
            <a:r>
              <a:rPr lang="en-US" sz="2100"/>
              <a:t>Our mission is to equip students with the technical skills and professional connections needed to excel in coding interviews and beyond. We provide a platform where students can collaborate, learn, and grow professionally while emphasizing the importance of diversity and inclusion in the tech industry</a:t>
            </a:r>
            <a:endParaRPr/>
          </a:p>
        </p:txBody>
      </p:sp>
      <p:pic>
        <p:nvPicPr>
          <p:cNvPr id="168" name="Google Shape;168;g2d5b2b5e3c8_0_66"/>
          <p:cNvPicPr preferRelativeResize="0"/>
          <p:nvPr/>
        </p:nvPicPr>
        <p:blipFill rotWithShape="1">
          <a:blip r:embed="rId3">
            <a:alphaModFix/>
          </a:blip>
          <a:srcRect b="0" l="0" r="0" t="0"/>
          <a:stretch/>
        </p:blipFill>
        <p:spPr>
          <a:xfrm>
            <a:off x="10173375" y="0"/>
            <a:ext cx="2015925" cy="2015925"/>
          </a:xfrm>
          <a:prstGeom prst="rect">
            <a:avLst/>
          </a:prstGeom>
          <a:noFill/>
          <a:ln>
            <a:noFill/>
          </a:ln>
        </p:spPr>
      </p:pic>
      <p:sp>
        <p:nvSpPr>
          <p:cNvPr id="169" name="Google Shape;169;g2d5b2b5e3c8_0_66"/>
          <p:cNvSpPr txBox="1"/>
          <p:nvPr>
            <p:ph idx="1" type="body"/>
          </p:nvPr>
        </p:nvSpPr>
        <p:spPr>
          <a:xfrm>
            <a:off x="620500" y="3922750"/>
            <a:ext cx="10922400" cy="2370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1800"/>
              <a:buNone/>
            </a:pPr>
            <a:r>
              <a:rPr b="1" lang="en-US" sz="2400"/>
              <a:t>Vision:</a:t>
            </a:r>
            <a:endParaRPr b="1" sz="2400"/>
          </a:p>
          <a:p>
            <a:pPr indent="0" lvl="0" marL="0" rtl="0" algn="l">
              <a:lnSpc>
                <a:spcPct val="90000"/>
              </a:lnSpc>
              <a:spcBef>
                <a:spcPts val="0"/>
              </a:spcBef>
              <a:spcAft>
                <a:spcPts val="0"/>
              </a:spcAft>
              <a:buSzPts val="1800"/>
              <a:buNone/>
            </a:pPr>
            <a:r>
              <a:t/>
            </a:r>
            <a:endParaRPr b="1" sz="2100"/>
          </a:p>
          <a:p>
            <a:pPr indent="0" lvl="0" marL="0" rtl="0" algn="l">
              <a:lnSpc>
                <a:spcPct val="115000"/>
              </a:lnSpc>
              <a:spcBef>
                <a:spcPts val="0"/>
              </a:spcBef>
              <a:spcAft>
                <a:spcPts val="0"/>
              </a:spcAft>
              <a:buSzPts val="1800"/>
              <a:buNone/>
            </a:pPr>
            <a:r>
              <a:rPr lang="en-US" sz="2100"/>
              <a:t>We strive to bridge the gap between academia and the tech industry by offering hands-on workshops, technical interview preparation, hackathons, and networking opportunities with experts from leading companies. Our vision is to empower students from all backgrounds to achieve their full potential, foster an inclusive tech community, and build a strong, supportive alumni network. By covering a wide range of technical areas, we aim to prepare students for success in a variety of tech careers.</a:t>
            </a:r>
            <a:endParaRPr sz="2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3" name="Shape 173"/>
        <p:cNvGrpSpPr/>
        <p:nvPr/>
      </p:nvGrpSpPr>
      <p:grpSpPr>
        <a:xfrm>
          <a:off x="0" y="0"/>
          <a:ext cx="0" cy="0"/>
          <a:chOff x="0" y="0"/>
          <a:chExt cx="0" cy="0"/>
        </a:xfrm>
      </p:grpSpPr>
      <p:sp>
        <p:nvSpPr>
          <p:cNvPr id="174" name="Google Shape;174;g2d75afc7928_0_24"/>
          <p:cNvSpPr/>
          <p:nvPr/>
        </p:nvSpPr>
        <p:spPr>
          <a:xfrm>
            <a:off x="0" y="0"/>
            <a:ext cx="121893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175" name="Google Shape;175;g2d75afc7928_0_24"/>
          <p:cNvSpPr txBox="1"/>
          <p:nvPr>
            <p:ph type="title"/>
          </p:nvPr>
        </p:nvSpPr>
        <p:spPr>
          <a:xfrm>
            <a:off x="572493" y="238539"/>
            <a:ext cx="11018400" cy="14343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500"/>
              <a:buFont typeface="Play"/>
              <a:buNone/>
            </a:pPr>
            <a:r>
              <a:rPr lang="en-US">
                <a:latin typeface="Calibri"/>
                <a:ea typeface="Calibri"/>
                <a:cs typeface="Calibri"/>
                <a:sym typeface="Calibri"/>
              </a:rPr>
              <a:t>What We Offer</a:t>
            </a:r>
            <a:endParaRPr/>
          </a:p>
        </p:txBody>
      </p:sp>
      <p:sp>
        <p:nvSpPr>
          <p:cNvPr id="176" name="Google Shape;176;g2d75afc7928_0_24"/>
          <p:cNvSpPr/>
          <p:nvPr/>
        </p:nvSpPr>
        <p:spPr>
          <a:xfrm>
            <a:off x="572493" y="1681544"/>
            <a:ext cx="10972800" cy="18288"/>
          </a:xfrm>
          <a:custGeom>
            <a:rect b="b" l="l" r="r" t="t"/>
            <a:pathLst>
              <a:path extrusionOk="0" fill="none" h="18288" w="1097280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extrusionOk="0" h="18288" w="1097280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4117"/>
            </a:schemeClr>
          </a:solidFill>
          <a:ln cap="rnd" cmpd="sng" w="44450">
            <a:solidFill>
              <a:schemeClr val="accent2">
                <a:alpha val="74117"/>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177" name="Google Shape;177;g2d75afc7928_0_24"/>
          <p:cNvSpPr txBox="1"/>
          <p:nvPr>
            <p:ph idx="1" type="body"/>
          </p:nvPr>
        </p:nvSpPr>
        <p:spPr>
          <a:xfrm>
            <a:off x="572500" y="2071300"/>
            <a:ext cx="10922400" cy="4119300"/>
          </a:xfrm>
          <a:prstGeom prst="rect">
            <a:avLst/>
          </a:prstGeom>
          <a:noFill/>
          <a:ln>
            <a:noFill/>
          </a:ln>
        </p:spPr>
        <p:txBody>
          <a:bodyPr anchorCtr="0" anchor="t" bIns="45700" lIns="91425" spcFirstLastPara="1" rIns="91425" wrap="square" tIns="45700">
            <a:normAutofit fontScale="70000" lnSpcReduction="10000"/>
          </a:bodyPr>
          <a:lstStyle/>
          <a:p>
            <a:pPr indent="0" lvl="0" marL="0" rtl="0" algn="l">
              <a:lnSpc>
                <a:spcPct val="115000"/>
              </a:lnSpc>
              <a:spcBef>
                <a:spcPts val="800"/>
              </a:spcBef>
              <a:spcAft>
                <a:spcPts val="0"/>
              </a:spcAft>
              <a:buSzPct val="34375"/>
              <a:buNone/>
            </a:pPr>
            <a:r>
              <a:rPr lang="en-US" sz="3200"/>
              <a:t>• Hands-On Workshops: Topics include Python, JavaScript, React, and more.</a:t>
            </a:r>
            <a:endParaRPr sz="3200"/>
          </a:p>
          <a:p>
            <a:pPr indent="0" lvl="0" marL="0" rtl="0" algn="l">
              <a:lnSpc>
                <a:spcPct val="115000"/>
              </a:lnSpc>
              <a:spcBef>
                <a:spcPts val="800"/>
              </a:spcBef>
              <a:spcAft>
                <a:spcPts val="0"/>
              </a:spcAft>
              <a:buSzPct val="34375"/>
              <a:buNone/>
            </a:pPr>
            <a:r>
              <a:rPr lang="en-US" sz="3200"/>
              <a:t>• LeetCode Prep: Weekly sessions to master technical interviews.</a:t>
            </a:r>
            <a:endParaRPr sz="3200"/>
          </a:p>
          <a:p>
            <a:pPr indent="0" lvl="0" marL="0" rtl="0" algn="l">
              <a:lnSpc>
                <a:spcPct val="115000"/>
              </a:lnSpc>
              <a:spcBef>
                <a:spcPts val="800"/>
              </a:spcBef>
              <a:spcAft>
                <a:spcPts val="0"/>
              </a:spcAft>
              <a:buSzPct val="34375"/>
              <a:buNone/>
            </a:pPr>
            <a:r>
              <a:rPr lang="en-US" sz="3200"/>
              <a:t>• Hackathons: Collaborate on innovative projects in a competitive setting.</a:t>
            </a:r>
            <a:endParaRPr sz="3200"/>
          </a:p>
          <a:p>
            <a:pPr indent="0" lvl="0" marL="0" rtl="0" algn="l">
              <a:lnSpc>
                <a:spcPct val="115000"/>
              </a:lnSpc>
              <a:spcBef>
                <a:spcPts val="800"/>
              </a:spcBef>
              <a:spcAft>
                <a:spcPts val="0"/>
              </a:spcAft>
              <a:buSzPct val="34375"/>
              <a:buNone/>
            </a:pPr>
            <a:r>
              <a:rPr lang="en-US" sz="3200"/>
              <a:t>• Panel Discussions: Industry leaders from tech giants and startups share insights.</a:t>
            </a:r>
            <a:endParaRPr sz="3200"/>
          </a:p>
          <a:p>
            <a:pPr indent="0" lvl="0" marL="0" rtl="0" algn="l">
              <a:lnSpc>
                <a:spcPct val="115000"/>
              </a:lnSpc>
              <a:spcBef>
                <a:spcPts val="800"/>
              </a:spcBef>
              <a:spcAft>
                <a:spcPts val="0"/>
              </a:spcAft>
              <a:buSzPct val="34375"/>
              <a:buNone/>
            </a:pPr>
            <a:r>
              <a:rPr lang="en-US" sz="3200"/>
              <a:t>• Global Access: Code Crunch Global launches in October for worldwide participation!</a:t>
            </a:r>
            <a:endParaRPr sz="3200"/>
          </a:p>
          <a:p>
            <a:pPr indent="0" lvl="0" marL="0" rtl="0" algn="l">
              <a:lnSpc>
                <a:spcPct val="115000"/>
              </a:lnSpc>
              <a:spcBef>
                <a:spcPts val="800"/>
              </a:spcBef>
              <a:spcAft>
                <a:spcPts val="0"/>
              </a:spcAft>
              <a:buSzPct val="34375"/>
              <a:buNone/>
            </a:pPr>
            <a:r>
              <a:t/>
            </a:r>
            <a:endParaRPr sz="3200"/>
          </a:p>
          <a:p>
            <a:pPr indent="0" lvl="0" marL="0" rtl="0" algn="l">
              <a:lnSpc>
                <a:spcPct val="115000"/>
              </a:lnSpc>
              <a:spcBef>
                <a:spcPts val="0"/>
              </a:spcBef>
              <a:spcAft>
                <a:spcPts val="0"/>
              </a:spcAft>
              <a:buSzPct val="85714"/>
              <a:buNone/>
            </a:pPr>
            <a:r>
              <a:t/>
            </a:r>
            <a:endParaRPr sz="2100"/>
          </a:p>
          <a:p>
            <a:pPr indent="0" lvl="0" marL="0" rtl="0" algn="l">
              <a:lnSpc>
                <a:spcPct val="90000"/>
              </a:lnSpc>
              <a:spcBef>
                <a:spcPts val="0"/>
              </a:spcBef>
              <a:spcAft>
                <a:spcPts val="0"/>
              </a:spcAft>
              <a:buSzPct val="75000"/>
              <a:buNone/>
            </a:pPr>
            <a:r>
              <a:t/>
            </a:r>
            <a:endParaRPr sz="2400"/>
          </a:p>
          <a:p>
            <a:pPr indent="0" lvl="0" marL="457200" rtl="0" algn="l">
              <a:lnSpc>
                <a:spcPct val="90000"/>
              </a:lnSpc>
              <a:spcBef>
                <a:spcPts val="1100"/>
              </a:spcBef>
              <a:spcAft>
                <a:spcPts val="0"/>
              </a:spcAft>
              <a:buSzPct val="64285"/>
              <a:buNone/>
            </a:pPr>
            <a:r>
              <a:rPr lang="en-US"/>
              <a:t> </a:t>
            </a:r>
            <a:endParaRPr/>
          </a:p>
        </p:txBody>
      </p:sp>
      <p:pic>
        <p:nvPicPr>
          <p:cNvPr id="178" name="Google Shape;178;g2d75afc7928_0_24"/>
          <p:cNvPicPr preferRelativeResize="0"/>
          <p:nvPr/>
        </p:nvPicPr>
        <p:blipFill rotWithShape="1">
          <a:blip r:embed="rId3">
            <a:alphaModFix/>
          </a:blip>
          <a:srcRect b="0" l="0" r="0" t="0"/>
          <a:stretch/>
        </p:blipFill>
        <p:spPr>
          <a:xfrm>
            <a:off x="10173375" y="0"/>
            <a:ext cx="2015925" cy="20159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2" name="Shape 182"/>
        <p:cNvGrpSpPr/>
        <p:nvPr/>
      </p:nvGrpSpPr>
      <p:grpSpPr>
        <a:xfrm>
          <a:off x="0" y="0"/>
          <a:ext cx="0" cy="0"/>
          <a:chOff x="0" y="0"/>
          <a:chExt cx="0" cy="0"/>
        </a:xfrm>
      </p:grpSpPr>
      <p:sp>
        <p:nvSpPr>
          <p:cNvPr id="183" name="Google Shape;183;g2d75afc7928_0_34"/>
          <p:cNvSpPr/>
          <p:nvPr/>
        </p:nvSpPr>
        <p:spPr>
          <a:xfrm>
            <a:off x="1350" y="0"/>
            <a:ext cx="121893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184" name="Google Shape;184;g2d75afc7928_0_34"/>
          <p:cNvSpPr txBox="1"/>
          <p:nvPr>
            <p:ph type="title"/>
          </p:nvPr>
        </p:nvSpPr>
        <p:spPr>
          <a:xfrm>
            <a:off x="572493" y="238539"/>
            <a:ext cx="11018400" cy="14343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500"/>
              <a:buFont typeface="Play"/>
              <a:buNone/>
            </a:pPr>
            <a:r>
              <a:rPr lang="en-US">
                <a:latin typeface="Calibri"/>
                <a:ea typeface="Calibri"/>
                <a:cs typeface="Calibri"/>
                <a:sym typeface="Calibri"/>
              </a:rPr>
              <a:t>Meet the E-Board</a:t>
            </a:r>
            <a:endParaRPr/>
          </a:p>
        </p:txBody>
      </p:sp>
      <p:sp>
        <p:nvSpPr>
          <p:cNvPr id="185" name="Google Shape;185;g2d75afc7928_0_34"/>
          <p:cNvSpPr/>
          <p:nvPr/>
        </p:nvSpPr>
        <p:spPr>
          <a:xfrm>
            <a:off x="572493" y="1681544"/>
            <a:ext cx="10972800" cy="18288"/>
          </a:xfrm>
          <a:custGeom>
            <a:rect b="b" l="l" r="r" t="t"/>
            <a:pathLst>
              <a:path extrusionOk="0" fill="none" h="18288" w="1097280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extrusionOk="0" h="18288" w="1097280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4117"/>
            </a:schemeClr>
          </a:solidFill>
          <a:ln cap="rnd" cmpd="sng" w="44450">
            <a:solidFill>
              <a:schemeClr val="accent2">
                <a:alpha val="74117"/>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pic>
        <p:nvPicPr>
          <p:cNvPr id="186" name="Google Shape;186;g2d75afc7928_0_34"/>
          <p:cNvPicPr preferRelativeResize="0"/>
          <p:nvPr/>
        </p:nvPicPr>
        <p:blipFill rotWithShape="1">
          <a:blip r:embed="rId3">
            <a:alphaModFix/>
          </a:blip>
          <a:srcRect b="0" l="0" r="0" t="0"/>
          <a:stretch/>
        </p:blipFill>
        <p:spPr>
          <a:xfrm>
            <a:off x="10173375" y="0"/>
            <a:ext cx="2015925" cy="2015925"/>
          </a:xfrm>
          <a:prstGeom prst="rect">
            <a:avLst/>
          </a:prstGeom>
          <a:noFill/>
          <a:ln>
            <a:noFill/>
          </a:ln>
        </p:spPr>
      </p:pic>
      <p:sp>
        <p:nvSpPr>
          <p:cNvPr id="187" name="Google Shape;187;g2d75afc7928_0_34"/>
          <p:cNvSpPr txBox="1"/>
          <p:nvPr/>
        </p:nvSpPr>
        <p:spPr>
          <a:xfrm>
            <a:off x="528525" y="1808013"/>
            <a:ext cx="5833200" cy="2738700"/>
          </a:xfrm>
          <a:prstGeom prst="rect">
            <a:avLst/>
          </a:prstGeom>
          <a:noFill/>
          <a:ln>
            <a:noFill/>
          </a:ln>
        </p:spPr>
        <p:txBody>
          <a:bodyPr anchorCtr="0" anchor="t" bIns="45700" lIns="91425" spcFirstLastPara="1" rIns="91425" wrap="square" tIns="45700">
            <a:noAutofit/>
          </a:bodyPr>
          <a:lstStyle/>
          <a:p>
            <a:pPr indent="-302260" lvl="0" marL="457200" marR="0" rtl="0" algn="l">
              <a:lnSpc>
                <a:spcPct val="130000"/>
              </a:lnSpc>
              <a:spcBef>
                <a:spcPts val="0"/>
              </a:spcBef>
              <a:spcAft>
                <a:spcPts val="0"/>
              </a:spcAft>
              <a:buClr>
                <a:srgbClr val="000000"/>
              </a:buClr>
              <a:buSzPts val="1160"/>
              <a:buFont typeface="Roboto"/>
              <a:buChar char="●"/>
            </a:pPr>
            <a:r>
              <a:rPr b="1" i="0" lang="en-US" sz="2010" u="none" cap="none" strike="noStrike">
                <a:solidFill>
                  <a:srgbClr val="000000"/>
                </a:solidFill>
                <a:latin typeface="Roboto"/>
                <a:ea typeface="Roboto"/>
                <a:cs typeface="Roboto"/>
                <a:sym typeface="Roboto"/>
              </a:rPr>
              <a:t>President:</a:t>
            </a:r>
            <a:r>
              <a:rPr b="0" i="0" lang="en-US" sz="2010" u="none" cap="none" strike="noStrike">
                <a:solidFill>
                  <a:srgbClr val="000000"/>
                </a:solidFill>
                <a:latin typeface="Roboto"/>
                <a:ea typeface="Roboto"/>
                <a:cs typeface="Roboto"/>
                <a:sym typeface="Roboto"/>
              </a:rPr>
              <a:t> Brian Bazurto</a:t>
            </a:r>
            <a:endParaRPr b="0" i="0" sz="2010" u="none" cap="none" strike="noStrike">
              <a:solidFill>
                <a:srgbClr val="000000"/>
              </a:solidFill>
              <a:latin typeface="Roboto"/>
              <a:ea typeface="Roboto"/>
              <a:cs typeface="Roboto"/>
              <a:sym typeface="Roboto"/>
            </a:endParaRPr>
          </a:p>
          <a:p>
            <a:pPr indent="-302260" lvl="0" marL="457200" marR="0" rtl="0" algn="l">
              <a:lnSpc>
                <a:spcPct val="130000"/>
              </a:lnSpc>
              <a:spcBef>
                <a:spcPts val="0"/>
              </a:spcBef>
              <a:spcAft>
                <a:spcPts val="0"/>
              </a:spcAft>
              <a:buClr>
                <a:srgbClr val="000000"/>
              </a:buClr>
              <a:buSzPts val="1160"/>
              <a:buFont typeface="Roboto"/>
              <a:buChar char="●"/>
            </a:pPr>
            <a:r>
              <a:rPr b="1" i="0" lang="en-US" sz="2010" u="none" cap="none" strike="noStrike">
                <a:solidFill>
                  <a:srgbClr val="000000"/>
                </a:solidFill>
                <a:latin typeface="Roboto"/>
                <a:ea typeface="Roboto"/>
                <a:cs typeface="Roboto"/>
                <a:sym typeface="Roboto"/>
              </a:rPr>
              <a:t>Vice President:</a:t>
            </a:r>
            <a:r>
              <a:rPr b="0" i="0" lang="en-US" sz="2010" u="none" cap="none" strike="noStrike">
                <a:solidFill>
                  <a:srgbClr val="000000"/>
                </a:solidFill>
                <a:latin typeface="Roboto"/>
                <a:ea typeface="Roboto"/>
                <a:cs typeface="Roboto"/>
                <a:sym typeface="Roboto"/>
              </a:rPr>
              <a:t> Amilcar Pena</a:t>
            </a:r>
            <a:endParaRPr b="0" i="0" sz="2010" u="none" cap="none" strike="noStrike">
              <a:solidFill>
                <a:srgbClr val="000000"/>
              </a:solidFill>
              <a:latin typeface="Roboto"/>
              <a:ea typeface="Roboto"/>
              <a:cs typeface="Roboto"/>
              <a:sym typeface="Roboto"/>
            </a:endParaRPr>
          </a:p>
          <a:p>
            <a:pPr indent="-302260" lvl="0" marL="457200" marR="0" rtl="0" algn="l">
              <a:lnSpc>
                <a:spcPct val="130000"/>
              </a:lnSpc>
              <a:spcBef>
                <a:spcPts val="0"/>
              </a:spcBef>
              <a:spcAft>
                <a:spcPts val="0"/>
              </a:spcAft>
              <a:buClr>
                <a:srgbClr val="000000"/>
              </a:buClr>
              <a:buSzPts val="1160"/>
              <a:buFont typeface="Roboto"/>
              <a:buChar char="●"/>
            </a:pPr>
            <a:r>
              <a:rPr b="1" i="0" lang="en-US" sz="2010" u="none" cap="none" strike="noStrike">
                <a:solidFill>
                  <a:srgbClr val="000000"/>
                </a:solidFill>
                <a:latin typeface="Roboto"/>
                <a:ea typeface="Roboto"/>
                <a:cs typeface="Roboto"/>
                <a:sym typeface="Roboto"/>
              </a:rPr>
              <a:t>Treasurer:</a:t>
            </a:r>
            <a:r>
              <a:rPr b="0" i="0" lang="en-US" sz="2010" u="none" cap="none" strike="noStrike">
                <a:solidFill>
                  <a:srgbClr val="000000"/>
                </a:solidFill>
                <a:latin typeface="Roboto"/>
                <a:ea typeface="Roboto"/>
                <a:cs typeface="Roboto"/>
                <a:sym typeface="Roboto"/>
              </a:rPr>
              <a:t> Bryan Garcia</a:t>
            </a:r>
            <a:endParaRPr b="0" i="0" sz="2010" u="none" cap="none" strike="noStrike">
              <a:solidFill>
                <a:srgbClr val="000000"/>
              </a:solidFill>
              <a:latin typeface="Roboto"/>
              <a:ea typeface="Roboto"/>
              <a:cs typeface="Roboto"/>
              <a:sym typeface="Roboto"/>
            </a:endParaRPr>
          </a:p>
          <a:p>
            <a:pPr indent="-302260" lvl="0" marL="457200" marR="0" rtl="0" algn="l">
              <a:lnSpc>
                <a:spcPct val="130000"/>
              </a:lnSpc>
              <a:spcBef>
                <a:spcPts val="0"/>
              </a:spcBef>
              <a:spcAft>
                <a:spcPts val="0"/>
              </a:spcAft>
              <a:buClr>
                <a:srgbClr val="000000"/>
              </a:buClr>
              <a:buSzPts val="1160"/>
              <a:buFont typeface="Roboto"/>
              <a:buChar char="●"/>
            </a:pPr>
            <a:r>
              <a:rPr b="1" i="0" lang="en-US" sz="2010" u="none" cap="none" strike="noStrike">
                <a:solidFill>
                  <a:srgbClr val="000000"/>
                </a:solidFill>
                <a:latin typeface="Roboto"/>
                <a:ea typeface="Roboto"/>
                <a:cs typeface="Roboto"/>
                <a:sym typeface="Roboto"/>
              </a:rPr>
              <a:t>Marketing/Logistics:</a:t>
            </a:r>
            <a:r>
              <a:rPr b="0" i="0" lang="en-US" sz="2010" u="none" cap="none" strike="noStrike">
                <a:solidFill>
                  <a:srgbClr val="000000"/>
                </a:solidFill>
                <a:latin typeface="Roboto"/>
                <a:ea typeface="Roboto"/>
                <a:cs typeface="Roboto"/>
                <a:sym typeface="Roboto"/>
              </a:rPr>
              <a:t> Henry Cruz</a:t>
            </a:r>
            <a:endParaRPr b="0" i="0" sz="2010" u="none" cap="none" strike="noStrike">
              <a:solidFill>
                <a:srgbClr val="000000"/>
              </a:solidFill>
              <a:latin typeface="Roboto"/>
              <a:ea typeface="Roboto"/>
              <a:cs typeface="Roboto"/>
              <a:sym typeface="Roboto"/>
            </a:endParaRPr>
          </a:p>
          <a:p>
            <a:pPr indent="-302260" lvl="0" marL="457200" marR="0" rtl="0" algn="l">
              <a:lnSpc>
                <a:spcPct val="130000"/>
              </a:lnSpc>
              <a:spcBef>
                <a:spcPts val="0"/>
              </a:spcBef>
              <a:spcAft>
                <a:spcPts val="0"/>
              </a:spcAft>
              <a:buClr>
                <a:srgbClr val="000000"/>
              </a:buClr>
              <a:buSzPts val="1160"/>
              <a:buFont typeface="Roboto"/>
              <a:buChar char="●"/>
            </a:pPr>
            <a:r>
              <a:rPr b="1" i="0" lang="en-US" sz="2010" u="none" cap="none" strike="noStrike">
                <a:solidFill>
                  <a:srgbClr val="000000"/>
                </a:solidFill>
                <a:latin typeface="Roboto"/>
                <a:ea typeface="Roboto"/>
                <a:cs typeface="Roboto"/>
                <a:sym typeface="Roboto"/>
              </a:rPr>
              <a:t>Logistics:</a:t>
            </a:r>
            <a:r>
              <a:rPr b="0" i="0" lang="en-US" sz="2010" u="none" cap="none" strike="noStrike">
                <a:solidFill>
                  <a:srgbClr val="000000"/>
                </a:solidFill>
                <a:latin typeface="Roboto"/>
                <a:ea typeface="Roboto"/>
                <a:cs typeface="Roboto"/>
                <a:sym typeface="Roboto"/>
              </a:rPr>
              <a:t> Jason Liang</a:t>
            </a:r>
            <a:endParaRPr b="0" i="0" sz="2010" u="none" cap="none" strike="noStrike">
              <a:solidFill>
                <a:srgbClr val="000000"/>
              </a:solidFill>
              <a:latin typeface="Roboto"/>
              <a:ea typeface="Roboto"/>
              <a:cs typeface="Roboto"/>
              <a:sym typeface="Roboto"/>
            </a:endParaRPr>
          </a:p>
          <a:p>
            <a:pPr indent="0" lvl="0" marL="0" marR="0" rtl="0" algn="l">
              <a:lnSpc>
                <a:spcPct val="130000"/>
              </a:lnSpc>
              <a:spcBef>
                <a:spcPts val="0"/>
              </a:spcBef>
              <a:spcAft>
                <a:spcPts val="0"/>
              </a:spcAft>
              <a:buClr>
                <a:srgbClr val="000000"/>
              </a:buClr>
              <a:buSzPts val="2010"/>
              <a:buFont typeface="Arial"/>
              <a:buNone/>
            </a:pPr>
            <a:r>
              <a:t/>
            </a:r>
            <a:endParaRPr b="0" i="0" sz="2010" u="none" cap="none" strike="noStrike">
              <a:solidFill>
                <a:srgbClr val="000000"/>
              </a:solidFill>
              <a:latin typeface="Roboto"/>
              <a:ea typeface="Roboto"/>
              <a:cs typeface="Roboto"/>
              <a:sym typeface="Roboto"/>
            </a:endParaRPr>
          </a:p>
        </p:txBody>
      </p:sp>
      <p:sp>
        <p:nvSpPr>
          <p:cNvPr id="188" name="Google Shape;188;g2d75afc7928_0_34"/>
          <p:cNvSpPr txBox="1"/>
          <p:nvPr/>
        </p:nvSpPr>
        <p:spPr>
          <a:xfrm>
            <a:off x="78625" y="3941775"/>
            <a:ext cx="3512700" cy="2364900"/>
          </a:xfrm>
          <a:prstGeom prst="rect">
            <a:avLst/>
          </a:prstGeom>
          <a:noFill/>
          <a:ln>
            <a:noFill/>
          </a:ln>
        </p:spPr>
        <p:txBody>
          <a:bodyPr anchorCtr="0" anchor="t" bIns="45700" lIns="91425" spcFirstLastPara="1" rIns="91425" wrap="square" tIns="45700">
            <a:noAutofit/>
          </a:bodyPr>
          <a:lstStyle/>
          <a:p>
            <a:pPr indent="0" lvl="0" marL="0" marR="0" rtl="0" algn="r">
              <a:lnSpc>
                <a:spcPct val="150000"/>
              </a:lnSpc>
              <a:spcBef>
                <a:spcPts val="0"/>
              </a:spcBef>
              <a:spcAft>
                <a:spcPts val="0"/>
              </a:spcAft>
              <a:buClr>
                <a:srgbClr val="000000"/>
              </a:buClr>
              <a:buSzPts val="2000"/>
              <a:buFont typeface="Arial"/>
              <a:buNone/>
            </a:pPr>
            <a:r>
              <a:rPr b="1" i="0" lang="en-US" sz="2000" u="none" cap="none" strike="noStrike">
                <a:solidFill>
                  <a:srgbClr val="000000"/>
                </a:solidFill>
                <a:latin typeface="Roboto"/>
                <a:ea typeface="Roboto"/>
                <a:cs typeface="Roboto"/>
                <a:sym typeface="Roboto"/>
              </a:rPr>
              <a:t>Tech Leads:</a:t>
            </a:r>
            <a:endParaRPr b="0" i="0" sz="2000" u="none" cap="none" strike="noStrike">
              <a:solidFill>
                <a:srgbClr val="000000"/>
              </a:solidFill>
              <a:latin typeface="Roboto"/>
              <a:ea typeface="Roboto"/>
              <a:cs typeface="Roboto"/>
              <a:sym typeface="Roboto"/>
            </a:endParaRPr>
          </a:p>
          <a:p>
            <a:pPr indent="-355600" lvl="0" marL="457200" marR="0" rtl="0" algn="l">
              <a:lnSpc>
                <a:spcPct val="150000"/>
              </a:lnSpc>
              <a:spcBef>
                <a:spcPts val="0"/>
              </a:spcBef>
              <a:spcAft>
                <a:spcPts val="0"/>
              </a:spcAft>
              <a:buClr>
                <a:srgbClr val="000000"/>
              </a:buClr>
              <a:buSzPts val="2000"/>
              <a:buFont typeface="Roboto"/>
              <a:buChar char="•"/>
            </a:pPr>
            <a:r>
              <a:rPr b="0" i="0" lang="en-US" sz="2000" u="none" cap="none" strike="noStrike">
                <a:solidFill>
                  <a:srgbClr val="000000"/>
                </a:solidFill>
                <a:latin typeface="Roboto"/>
                <a:ea typeface="Roboto"/>
                <a:cs typeface="Roboto"/>
                <a:sym typeface="Roboto"/>
              </a:rPr>
              <a:t>Alvise Carpin</a:t>
            </a:r>
            <a:endParaRPr b="0" i="0" sz="2000" u="none" cap="none" strike="noStrike">
              <a:solidFill>
                <a:srgbClr val="000000"/>
              </a:solidFill>
              <a:latin typeface="Roboto"/>
              <a:ea typeface="Roboto"/>
              <a:cs typeface="Roboto"/>
              <a:sym typeface="Roboto"/>
            </a:endParaRPr>
          </a:p>
          <a:p>
            <a:pPr indent="-355600" lvl="0" marL="457200" marR="0" rtl="0" algn="l">
              <a:lnSpc>
                <a:spcPct val="150000"/>
              </a:lnSpc>
              <a:spcBef>
                <a:spcPts val="0"/>
              </a:spcBef>
              <a:spcAft>
                <a:spcPts val="0"/>
              </a:spcAft>
              <a:buClr>
                <a:srgbClr val="000000"/>
              </a:buClr>
              <a:buSzPts val="2000"/>
              <a:buFont typeface="Roboto"/>
              <a:buChar char="•"/>
            </a:pPr>
            <a:r>
              <a:rPr b="0" i="0" lang="en-US" sz="2000" u="none" cap="none" strike="noStrike">
                <a:solidFill>
                  <a:srgbClr val="000000"/>
                </a:solidFill>
                <a:latin typeface="Roboto"/>
                <a:ea typeface="Roboto"/>
                <a:cs typeface="Roboto"/>
                <a:sym typeface="Roboto"/>
              </a:rPr>
              <a:t>Arnold Miranda</a:t>
            </a:r>
            <a:endParaRPr b="0" i="0" sz="2000" u="none" cap="none" strike="noStrike">
              <a:solidFill>
                <a:srgbClr val="000000"/>
              </a:solidFill>
              <a:latin typeface="Roboto"/>
              <a:ea typeface="Roboto"/>
              <a:cs typeface="Roboto"/>
              <a:sym typeface="Roboto"/>
            </a:endParaRPr>
          </a:p>
          <a:p>
            <a:pPr indent="-355600" lvl="0" marL="457200" marR="0" rtl="0" algn="l">
              <a:lnSpc>
                <a:spcPct val="150000"/>
              </a:lnSpc>
              <a:spcBef>
                <a:spcPts val="0"/>
              </a:spcBef>
              <a:spcAft>
                <a:spcPts val="0"/>
              </a:spcAft>
              <a:buClr>
                <a:srgbClr val="000000"/>
              </a:buClr>
              <a:buSzPts val="2000"/>
              <a:buFont typeface="Roboto"/>
              <a:buChar char="•"/>
            </a:pPr>
            <a:r>
              <a:rPr b="0" i="0" lang="en-US" sz="2000" u="none" cap="none" strike="noStrike">
                <a:solidFill>
                  <a:srgbClr val="000000"/>
                </a:solidFill>
                <a:latin typeface="Roboto"/>
                <a:ea typeface="Roboto"/>
                <a:cs typeface="Roboto"/>
                <a:sym typeface="Roboto"/>
              </a:rPr>
              <a:t>Daniel Hernandez</a:t>
            </a:r>
            <a:endParaRPr b="0" i="0" sz="2000" u="none" cap="none" strike="noStrike">
              <a:solidFill>
                <a:srgbClr val="000000"/>
              </a:solidFill>
              <a:latin typeface="Roboto"/>
              <a:ea typeface="Roboto"/>
              <a:cs typeface="Roboto"/>
              <a:sym typeface="Roboto"/>
            </a:endParaRPr>
          </a:p>
          <a:p>
            <a:pPr indent="-355600" lvl="0" marL="457200" marR="0" rtl="0" algn="l">
              <a:lnSpc>
                <a:spcPct val="150000"/>
              </a:lnSpc>
              <a:spcBef>
                <a:spcPts val="0"/>
              </a:spcBef>
              <a:spcAft>
                <a:spcPts val="0"/>
              </a:spcAft>
              <a:buClr>
                <a:srgbClr val="000000"/>
              </a:buClr>
              <a:buSzPts val="2000"/>
              <a:buFont typeface="Roboto"/>
              <a:buChar char="•"/>
            </a:pPr>
            <a:r>
              <a:rPr b="0" i="0" lang="en-US" sz="2000" u="none" cap="none" strike="noStrike">
                <a:solidFill>
                  <a:srgbClr val="000000"/>
                </a:solidFill>
                <a:latin typeface="Roboto"/>
                <a:ea typeface="Roboto"/>
                <a:cs typeface="Roboto"/>
                <a:sym typeface="Roboto"/>
              </a:rPr>
              <a:t>Gabriel Nogueras</a:t>
            </a:r>
            <a:endParaRPr b="0" i="0" sz="2000" u="none" cap="none" strike="noStrike">
              <a:solidFill>
                <a:srgbClr val="000000"/>
              </a:solidFill>
              <a:latin typeface="Roboto"/>
              <a:ea typeface="Roboto"/>
              <a:cs typeface="Roboto"/>
              <a:sym typeface="Roboto"/>
            </a:endParaRPr>
          </a:p>
        </p:txBody>
      </p:sp>
      <p:sp>
        <p:nvSpPr>
          <p:cNvPr id="189" name="Google Shape;189;g2d75afc7928_0_34"/>
          <p:cNvSpPr txBox="1"/>
          <p:nvPr/>
        </p:nvSpPr>
        <p:spPr>
          <a:xfrm>
            <a:off x="2704050" y="4358775"/>
            <a:ext cx="2915700" cy="1871700"/>
          </a:xfrm>
          <a:prstGeom prst="rect">
            <a:avLst/>
          </a:prstGeom>
          <a:noFill/>
          <a:ln>
            <a:noFill/>
          </a:ln>
        </p:spPr>
        <p:txBody>
          <a:bodyPr anchorCtr="0" anchor="t" bIns="45700" lIns="91425" spcFirstLastPara="1" rIns="91425" wrap="square" tIns="45700">
            <a:noAutofit/>
          </a:bodyPr>
          <a:lstStyle/>
          <a:p>
            <a:pPr indent="-355600" lvl="0" marL="457200" marR="0" rtl="0" algn="l">
              <a:lnSpc>
                <a:spcPct val="150000"/>
              </a:lnSpc>
              <a:spcBef>
                <a:spcPts val="0"/>
              </a:spcBef>
              <a:spcAft>
                <a:spcPts val="0"/>
              </a:spcAft>
              <a:buClr>
                <a:srgbClr val="000000"/>
              </a:buClr>
              <a:buSzPts val="2000"/>
              <a:buFont typeface="Roboto"/>
              <a:buChar char="•"/>
            </a:pPr>
            <a:r>
              <a:rPr b="0" i="0" lang="en-US" sz="2000" u="none" cap="none" strike="noStrike">
                <a:solidFill>
                  <a:srgbClr val="000000"/>
                </a:solidFill>
                <a:latin typeface="Roboto"/>
                <a:ea typeface="Roboto"/>
                <a:cs typeface="Roboto"/>
                <a:sym typeface="Roboto"/>
              </a:rPr>
              <a:t>Justin Joseph</a:t>
            </a:r>
            <a:endParaRPr b="0" i="0" sz="2000" u="none" cap="none" strike="noStrike">
              <a:solidFill>
                <a:srgbClr val="000000"/>
              </a:solidFill>
              <a:latin typeface="Roboto"/>
              <a:ea typeface="Roboto"/>
              <a:cs typeface="Roboto"/>
              <a:sym typeface="Roboto"/>
            </a:endParaRPr>
          </a:p>
          <a:p>
            <a:pPr indent="-355600" lvl="0" marL="457200" marR="0" rtl="0" algn="l">
              <a:lnSpc>
                <a:spcPct val="150000"/>
              </a:lnSpc>
              <a:spcBef>
                <a:spcPts val="0"/>
              </a:spcBef>
              <a:spcAft>
                <a:spcPts val="0"/>
              </a:spcAft>
              <a:buClr>
                <a:srgbClr val="000000"/>
              </a:buClr>
              <a:buSzPts val="2000"/>
              <a:buFont typeface="Roboto"/>
              <a:buChar char="•"/>
            </a:pPr>
            <a:r>
              <a:rPr b="0" i="0" lang="en-US" sz="2000" u="none" cap="none" strike="noStrike">
                <a:solidFill>
                  <a:srgbClr val="000000"/>
                </a:solidFill>
                <a:latin typeface="Roboto"/>
                <a:ea typeface="Roboto"/>
                <a:cs typeface="Roboto"/>
                <a:sym typeface="Roboto"/>
              </a:rPr>
              <a:t>Mariana Phelan</a:t>
            </a:r>
            <a:endParaRPr b="0" i="0" sz="2000" u="none" cap="none" strike="noStrike">
              <a:solidFill>
                <a:srgbClr val="000000"/>
              </a:solidFill>
              <a:latin typeface="Roboto"/>
              <a:ea typeface="Roboto"/>
              <a:cs typeface="Roboto"/>
              <a:sym typeface="Roboto"/>
            </a:endParaRPr>
          </a:p>
          <a:p>
            <a:pPr indent="-355600" lvl="0" marL="457200" marR="0" rtl="0" algn="l">
              <a:lnSpc>
                <a:spcPct val="150000"/>
              </a:lnSpc>
              <a:spcBef>
                <a:spcPts val="0"/>
              </a:spcBef>
              <a:spcAft>
                <a:spcPts val="0"/>
              </a:spcAft>
              <a:buClr>
                <a:srgbClr val="000000"/>
              </a:buClr>
              <a:buSzPts val="2000"/>
              <a:buFont typeface="Roboto"/>
              <a:buChar char="•"/>
            </a:pPr>
            <a:r>
              <a:rPr b="0" i="0" lang="en-US" sz="2000" u="none" cap="none" strike="noStrike">
                <a:solidFill>
                  <a:srgbClr val="000000"/>
                </a:solidFill>
                <a:latin typeface="Roboto"/>
                <a:ea typeface="Roboto"/>
                <a:cs typeface="Roboto"/>
                <a:sym typeface="Roboto"/>
              </a:rPr>
              <a:t>Sara Salvatierra</a:t>
            </a:r>
            <a:endParaRPr b="0" i="0" sz="2000" u="none" cap="none" strike="noStrike">
              <a:solidFill>
                <a:srgbClr val="000000"/>
              </a:solidFill>
              <a:latin typeface="Roboto"/>
              <a:ea typeface="Roboto"/>
              <a:cs typeface="Roboto"/>
              <a:sym typeface="Roboto"/>
            </a:endParaRPr>
          </a:p>
          <a:p>
            <a:pPr indent="-355600" lvl="0" marL="457200" marR="0" rtl="0" algn="l">
              <a:lnSpc>
                <a:spcPct val="150000"/>
              </a:lnSpc>
              <a:spcBef>
                <a:spcPts val="0"/>
              </a:spcBef>
              <a:spcAft>
                <a:spcPts val="0"/>
              </a:spcAft>
              <a:buClr>
                <a:srgbClr val="000000"/>
              </a:buClr>
              <a:buSzPts val="2000"/>
              <a:buFont typeface="Roboto"/>
              <a:buChar char="•"/>
            </a:pPr>
            <a:r>
              <a:rPr b="0" i="0" lang="en-US" sz="2000" u="none" cap="none" strike="noStrike">
                <a:solidFill>
                  <a:srgbClr val="000000"/>
                </a:solidFill>
                <a:latin typeface="Roboto"/>
                <a:ea typeface="Roboto"/>
                <a:cs typeface="Roboto"/>
                <a:sym typeface="Roboto"/>
              </a:rPr>
              <a:t>Thierry Laguerre</a:t>
            </a:r>
            <a:endParaRPr b="0" i="0" sz="2000" u="none" cap="none" strike="noStrike">
              <a:solidFill>
                <a:srgbClr val="000000"/>
              </a:solidFill>
              <a:latin typeface="Roboto"/>
              <a:ea typeface="Roboto"/>
              <a:cs typeface="Roboto"/>
              <a:sym typeface="Roboto"/>
            </a:endParaRPr>
          </a:p>
        </p:txBody>
      </p:sp>
      <p:pic>
        <p:nvPicPr>
          <p:cNvPr id="190" name="Google Shape;190;g2d75afc7928_0_34"/>
          <p:cNvPicPr preferRelativeResize="0"/>
          <p:nvPr/>
        </p:nvPicPr>
        <p:blipFill rotWithShape="1">
          <a:blip r:embed="rId4">
            <a:alphaModFix/>
          </a:blip>
          <a:srcRect b="0" l="0" r="0" t="0"/>
          <a:stretch/>
        </p:blipFill>
        <p:spPr>
          <a:xfrm>
            <a:off x="5821550" y="1876225"/>
            <a:ext cx="5438950" cy="4733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4" name="Shape 194"/>
        <p:cNvGrpSpPr/>
        <p:nvPr/>
      </p:nvGrpSpPr>
      <p:grpSpPr>
        <a:xfrm>
          <a:off x="0" y="0"/>
          <a:ext cx="0" cy="0"/>
          <a:chOff x="0" y="0"/>
          <a:chExt cx="0" cy="0"/>
        </a:xfrm>
      </p:grpSpPr>
      <p:sp>
        <p:nvSpPr>
          <p:cNvPr id="195" name="Google Shape;195;g2d75afc7928_0_45"/>
          <p:cNvSpPr/>
          <p:nvPr/>
        </p:nvSpPr>
        <p:spPr>
          <a:xfrm>
            <a:off x="0" y="0"/>
            <a:ext cx="121893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196" name="Google Shape;196;g2d75afc7928_0_45"/>
          <p:cNvSpPr txBox="1"/>
          <p:nvPr>
            <p:ph type="title"/>
          </p:nvPr>
        </p:nvSpPr>
        <p:spPr>
          <a:xfrm>
            <a:off x="572493" y="238539"/>
            <a:ext cx="11018400" cy="14343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500"/>
              <a:buFont typeface="Play"/>
              <a:buNone/>
            </a:pPr>
            <a:r>
              <a:rPr lang="en-US">
                <a:latin typeface="Calibri"/>
                <a:ea typeface="Calibri"/>
                <a:cs typeface="Calibri"/>
                <a:sym typeface="Calibri"/>
              </a:rPr>
              <a:t>Why Join Code Crunch?</a:t>
            </a:r>
            <a:endParaRPr/>
          </a:p>
        </p:txBody>
      </p:sp>
      <p:sp>
        <p:nvSpPr>
          <p:cNvPr id="197" name="Google Shape;197;g2d75afc7928_0_45"/>
          <p:cNvSpPr/>
          <p:nvPr/>
        </p:nvSpPr>
        <p:spPr>
          <a:xfrm>
            <a:off x="572493" y="1681544"/>
            <a:ext cx="10972800" cy="18288"/>
          </a:xfrm>
          <a:custGeom>
            <a:rect b="b" l="l" r="r" t="t"/>
            <a:pathLst>
              <a:path extrusionOk="0" fill="none" h="18288" w="1097280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extrusionOk="0" h="18288" w="1097280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4117"/>
            </a:schemeClr>
          </a:solidFill>
          <a:ln cap="rnd" cmpd="sng" w="44450">
            <a:solidFill>
              <a:schemeClr val="accent2">
                <a:alpha val="74117"/>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198" name="Google Shape;198;g2d75afc7928_0_45"/>
          <p:cNvSpPr txBox="1"/>
          <p:nvPr>
            <p:ph idx="1" type="body"/>
          </p:nvPr>
        </p:nvSpPr>
        <p:spPr>
          <a:xfrm>
            <a:off x="572500" y="2071300"/>
            <a:ext cx="10922400" cy="4119300"/>
          </a:xfrm>
          <a:prstGeom prst="rect">
            <a:avLst/>
          </a:prstGeom>
          <a:noFill/>
          <a:ln>
            <a:noFill/>
          </a:ln>
        </p:spPr>
        <p:txBody>
          <a:bodyPr anchorCtr="0" anchor="t" bIns="45700" lIns="91425" spcFirstLastPara="1" rIns="91425" wrap="square" tIns="45700">
            <a:normAutofit lnSpcReduction="10000"/>
          </a:bodyPr>
          <a:lstStyle/>
          <a:p>
            <a:pPr indent="0" lvl="0" marL="457200" rtl="0" algn="l">
              <a:lnSpc>
                <a:spcPct val="90000"/>
              </a:lnSpc>
              <a:spcBef>
                <a:spcPts val="1100"/>
              </a:spcBef>
              <a:spcAft>
                <a:spcPts val="0"/>
              </a:spcAft>
              <a:buSzPts val="1800"/>
              <a:buNone/>
            </a:pPr>
            <a:r>
              <a:rPr lang="en-US" sz="3200"/>
              <a:t>• Collaborate with peers and mentors.</a:t>
            </a:r>
            <a:endParaRPr sz="3200"/>
          </a:p>
          <a:p>
            <a:pPr indent="0" lvl="0" marL="457200" rtl="0" algn="l">
              <a:lnSpc>
                <a:spcPct val="90000"/>
              </a:lnSpc>
              <a:spcBef>
                <a:spcPts val="1100"/>
              </a:spcBef>
              <a:spcAft>
                <a:spcPts val="0"/>
              </a:spcAft>
              <a:buSzPts val="1800"/>
              <a:buNone/>
            </a:pPr>
            <a:r>
              <a:rPr lang="en-US" sz="3200"/>
              <a:t>• Develop technical and leadership skills.</a:t>
            </a:r>
            <a:endParaRPr sz="3200"/>
          </a:p>
          <a:p>
            <a:pPr indent="0" lvl="0" marL="457200" rtl="0" algn="l">
              <a:lnSpc>
                <a:spcPct val="90000"/>
              </a:lnSpc>
              <a:spcBef>
                <a:spcPts val="1100"/>
              </a:spcBef>
              <a:spcAft>
                <a:spcPts val="0"/>
              </a:spcAft>
              <a:buSzPts val="1800"/>
              <a:buNone/>
            </a:pPr>
            <a:r>
              <a:rPr lang="en-US" sz="3200"/>
              <a:t>• Network with professionals from top companies.</a:t>
            </a:r>
            <a:endParaRPr sz="3200"/>
          </a:p>
          <a:p>
            <a:pPr indent="0" lvl="0" marL="457200" rtl="0" algn="l">
              <a:lnSpc>
                <a:spcPct val="90000"/>
              </a:lnSpc>
              <a:spcBef>
                <a:spcPts val="1100"/>
              </a:spcBef>
              <a:spcAft>
                <a:spcPts val="0"/>
              </a:spcAft>
              <a:buSzPts val="1800"/>
              <a:buNone/>
            </a:pPr>
            <a:r>
              <a:rPr lang="en-US" sz="3200"/>
              <a:t>• Build impactful projects and gain hands-on experience.</a:t>
            </a:r>
            <a:endParaRPr sz="3200"/>
          </a:p>
          <a:p>
            <a:pPr indent="0" lvl="0" marL="457200" rtl="0" algn="l">
              <a:lnSpc>
                <a:spcPct val="90000"/>
              </a:lnSpc>
              <a:spcBef>
                <a:spcPts val="1100"/>
              </a:spcBef>
              <a:spcAft>
                <a:spcPts val="0"/>
              </a:spcAft>
              <a:buSzPts val="1800"/>
              <a:buNone/>
            </a:pPr>
            <a:r>
              <a:t/>
            </a:r>
            <a:endParaRPr sz="3200"/>
          </a:p>
          <a:p>
            <a:pPr indent="0" lvl="0" marL="0" rtl="0" algn="l">
              <a:lnSpc>
                <a:spcPct val="90000"/>
              </a:lnSpc>
              <a:spcBef>
                <a:spcPts val="1100"/>
              </a:spcBef>
              <a:spcAft>
                <a:spcPts val="0"/>
              </a:spcAft>
              <a:buSzPts val="1800"/>
              <a:buNone/>
            </a:pPr>
            <a:r>
              <a:rPr lang="en-US" sz="3200"/>
              <a:t>A welcoming and inclusive space for underrepresented groups in tech.</a:t>
            </a:r>
            <a:endParaRPr sz="3200"/>
          </a:p>
          <a:p>
            <a:pPr indent="0" lvl="0" marL="457200" rtl="0" algn="l">
              <a:lnSpc>
                <a:spcPct val="90000"/>
              </a:lnSpc>
              <a:spcBef>
                <a:spcPts val="1100"/>
              </a:spcBef>
              <a:spcAft>
                <a:spcPts val="0"/>
              </a:spcAft>
              <a:buSzPts val="1800"/>
              <a:buNone/>
            </a:pPr>
            <a:r>
              <a:t/>
            </a:r>
            <a:endParaRPr sz="3200"/>
          </a:p>
        </p:txBody>
      </p:sp>
      <p:pic>
        <p:nvPicPr>
          <p:cNvPr id="199" name="Google Shape;199;g2d75afc7928_0_45"/>
          <p:cNvPicPr preferRelativeResize="0"/>
          <p:nvPr/>
        </p:nvPicPr>
        <p:blipFill rotWithShape="1">
          <a:blip r:embed="rId3">
            <a:alphaModFix/>
          </a:blip>
          <a:srcRect b="0" l="0" r="0" t="0"/>
          <a:stretch/>
        </p:blipFill>
        <p:spPr>
          <a:xfrm>
            <a:off x="10173375" y="0"/>
            <a:ext cx="2015925" cy="20159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3" name="Shape 203"/>
        <p:cNvGrpSpPr/>
        <p:nvPr/>
      </p:nvGrpSpPr>
      <p:grpSpPr>
        <a:xfrm>
          <a:off x="0" y="0"/>
          <a:ext cx="0" cy="0"/>
          <a:chOff x="0" y="0"/>
          <a:chExt cx="0" cy="0"/>
        </a:xfrm>
      </p:grpSpPr>
      <p:sp>
        <p:nvSpPr>
          <p:cNvPr id="204" name="Google Shape;204;g2d75afc7928_0_55"/>
          <p:cNvSpPr/>
          <p:nvPr/>
        </p:nvSpPr>
        <p:spPr>
          <a:xfrm>
            <a:off x="-12950" y="-102025"/>
            <a:ext cx="121893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205" name="Google Shape;205;g2d75afc7928_0_55"/>
          <p:cNvSpPr txBox="1"/>
          <p:nvPr>
            <p:ph type="title"/>
          </p:nvPr>
        </p:nvSpPr>
        <p:spPr>
          <a:xfrm>
            <a:off x="572493" y="238539"/>
            <a:ext cx="11018400" cy="14343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500"/>
              <a:buFont typeface="Play"/>
              <a:buNone/>
            </a:pPr>
            <a:r>
              <a:rPr lang="en-US">
                <a:latin typeface="Calibri"/>
                <a:ea typeface="Calibri"/>
                <a:cs typeface="Calibri"/>
                <a:sym typeface="Calibri"/>
              </a:rPr>
              <a:t>Spring 2025 Weekly Schedule</a:t>
            </a:r>
            <a:endParaRPr/>
          </a:p>
        </p:txBody>
      </p:sp>
      <p:sp>
        <p:nvSpPr>
          <p:cNvPr id="206" name="Google Shape;206;g2d75afc7928_0_55"/>
          <p:cNvSpPr/>
          <p:nvPr/>
        </p:nvSpPr>
        <p:spPr>
          <a:xfrm>
            <a:off x="572493" y="1681544"/>
            <a:ext cx="10972800" cy="18288"/>
          </a:xfrm>
          <a:custGeom>
            <a:rect b="b" l="l" r="r" t="t"/>
            <a:pathLst>
              <a:path extrusionOk="0" fill="none" h="18288" w="1097280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extrusionOk="0" h="18288" w="1097280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4117"/>
            </a:schemeClr>
          </a:solidFill>
          <a:ln cap="rnd" cmpd="sng" w="44450">
            <a:solidFill>
              <a:schemeClr val="accent2">
                <a:alpha val="74117"/>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pic>
        <p:nvPicPr>
          <p:cNvPr id="207" name="Google Shape;207;g2d75afc7928_0_55"/>
          <p:cNvPicPr preferRelativeResize="0"/>
          <p:nvPr/>
        </p:nvPicPr>
        <p:blipFill rotWithShape="1">
          <a:blip r:embed="rId3">
            <a:alphaModFix/>
          </a:blip>
          <a:srcRect b="0" l="0" r="0" t="0"/>
          <a:stretch/>
        </p:blipFill>
        <p:spPr>
          <a:xfrm>
            <a:off x="10173375" y="0"/>
            <a:ext cx="2015925" cy="2015925"/>
          </a:xfrm>
          <a:prstGeom prst="rect">
            <a:avLst/>
          </a:prstGeom>
          <a:noFill/>
          <a:ln>
            <a:noFill/>
          </a:ln>
        </p:spPr>
      </p:pic>
      <p:pic>
        <p:nvPicPr>
          <p:cNvPr id="208" name="Google Shape;208;g2d75afc7928_0_55"/>
          <p:cNvPicPr preferRelativeResize="0"/>
          <p:nvPr/>
        </p:nvPicPr>
        <p:blipFill rotWithShape="1">
          <a:blip r:embed="rId4">
            <a:alphaModFix/>
          </a:blip>
          <a:srcRect b="26259" l="0" r="0" t="0"/>
          <a:stretch/>
        </p:blipFill>
        <p:spPr>
          <a:xfrm>
            <a:off x="572500" y="1800750"/>
            <a:ext cx="6858000" cy="5057250"/>
          </a:xfrm>
          <a:prstGeom prst="rect">
            <a:avLst/>
          </a:prstGeom>
          <a:solidFill>
            <a:schemeClr val="lt1"/>
          </a:solidFill>
          <a:ln>
            <a:noFill/>
          </a:ln>
        </p:spPr>
      </p:pic>
      <p:pic>
        <p:nvPicPr>
          <p:cNvPr id="209" name="Google Shape;209;g2d75afc7928_0_55"/>
          <p:cNvPicPr preferRelativeResize="0"/>
          <p:nvPr/>
        </p:nvPicPr>
        <p:blipFill rotWithShape="1">
          <a:blip r:embed="rId5">
            <a:alphaModFix/>
          </a:blip>
          <a:srcRect b="0" l="0" r="0" t="0"/>
          <a:stretch/>
        </p:blipFill>
        <p:spPr>
          <a:xfrm>
            <a:off x="7376251" y="2209199"/>
            <a:ext cx="4214650" cy="409223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3" name="Shape 213"/>
        <p:cNvGrpSpPr/>
        <p:nvPr/>
      </p:nvGrpSpPr>
      <p:grpSpPr>
        <a:xfrm>
          <a:off x="0" y="0"/>
          <a:ext cx="0" cy="0"/>
          <a:chOff x="0" y="0"/>
          <a:chExt cx="0" cy="0"/>
        </a:xfrm>
      </p:grpSpPr>
      <p:sp>
        <p:nvSpPr>
          <p:cNvPr id="214" name="Google Shape;214;g2d75afc7928_0_66"/>
          <p:cNvSpPr/>
          <p:nvPr/>
        </p:nvSpPr>
        <p:spPr>
          <a:xfrm>
            <a:off x="0" y="0"/>
            <a:ext cx="121893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215" name="Google Shape;215;g2d75afc7928_0_66"/>
          <p:cNvSpPr txBox="1"/>
          <p:nvPr>
            <p:ph type="title"/>
          </p:nvPr>
        </p:nvSpPr>
        <p:spPr>
          <a:xfrm>
            <a:off x="572493" y="238539"/>
            <a:ext cx="11018400" cy="14343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500"/>
              <a:buFont typeface="Play"/>
              <a:buNone/>
            </a:pPr>
            <a:r>
              <a:rPr lang="en-US">
                <a:latin typeface="Calibri"/>
                <a:ea typeface="Calibri"/>
                <a:cs typeface="Calibri"/>
                <a:sym typeface="Calibri"/>
              </a:rPr>
              <a:t>Be Part of the Code Crunch Community</a:t>
            </a:r>
            <a:endParaRPr/>
          </a:p>
        </p:txBody>
      </p:sp>
      <p:sp>
        <p:nvSpPr>
          <p:cNvPr id="216" name="Google Shape;216;g2d75afc7928_0_66"/>
          <p:cNvSpPr/>
          <p:nvPr/>
        </p:nvSpPr>
        <p:spPr>
          <a:xfrm>
            <a:off x="572493" y="1681544"/>
            <a:ext cx="10972800" cy="18288"/>
          </a:xfrm>
          <a:custGeom>
            <a:rect b="b" l="l" r="r" t="t"/>
            <a:pathLst>
              <a:path extrusionOk="0" fill="none" h="18288" w="1097280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extrusionOk="0" h="18288" w="1097280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4117"/>
            </a:schemeClr>
          </a:solidFill>
          <a:ln cap="rnd" cmpd="sng" w="44450">
            <a:solidFill>
              <a:schemeClr val="accent2">
                <a:alpha val="74117"/>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217" name="Google Shape;217;g2d75afc7928_0_66"/>
          <p:cNvSpPr txBox="1"/>
          <p:nvPr>
            <p:ph idx="1" type="body"/>
          </p:nvPr>
        </p:nvSpPr>
        <p:spPr>
          <a:xfrm>
            <a:off x="572500" y="2071300"/>
            <a:ext cx="10922400" cy="4119300"/>
          </a:xfrm>
          <a:prstGeom prst="rect">
            <a:avLst/>
          </a:prstGeom>
          <a:noFill/>
          <a:ln>
            <a:noFill/>
          </a:ln>
        </p:spPr>
        <p:txBody>
          <a:bodyPr anchorCtr="0" anchor="t" bIns="45700" lIns="91425" spcFirstLastPara="1" rIns="91425" wrap="square" tIns="45700">
            <a:normAutofit lnSpcReduction="20000"/>
          </a:bodyPr>
          <a:lstStyle/>
          <a:p>
            <a:pPr indent="0" lvl="0" marL="457200" rtl="0" algn="l">
              <a:lnSpc>
                <a:spcPct val="90000"/>
              </a:lnSpc>
              <a:spcBef>
                <a:spcPts val="1100"/>
              </a:spcBef>
              <a:spcAft>
                <a:spcPts val="0"/>
              </a:spcAft>
              <a:buSzPts val="1800"/>
              <a:buNone/>
            </a:pPr>
            <a:r>
              <a:rPr lang="en-US" sz="3200"/>
              <a:t>1. RSVP for sessions at go.fiu.edu/codecrunch.</a:t>
            </a:r>
            <a:endParaRPr sz="3200"/>
          </a:p>
          <a:p>
            <a:pPr indent="0" lvl="0" marL="457200" rtl="0" algn="l">
              <a:lnSpc>
                <a:spcPct val="90000"/>
              </a:lnSpc>
              <a:spcBef>
                <a:spcPts val="1100"/>
              </a:spcBef>
              <a:spcAft>
                <a:spcPts val="0"/>
              </a:spcAft>
              <a:buSzPts val="1800"/>
              <a:buNone/>
            </a:pPr>
            <a:r>
              <a:rPr lang="en-US" sz="3200"/>
              <a:t>2. Follow us on LinkedIn, Instagram, and Discord for updates.</a:t>
            </a:r>
            <a:endParaRPr sz="3200"/>
          </a:p>
          <a:p>
            <a:pPr indent="0" lvl="0" marL="457200" rtl="0" algn="l">
              <a:lnSpc>
                <a:spcPct val="90000"/>
              </a:lnSpc>
              <a:spcBef>
                <a:spcPts val="1100"/>
              </a:spcBef>
              <a:spcAft>
                <a:spcPts val="0"/>
              </a:spcAft>
              <a:buSzPts val="1800"/>
              <a:buNone/>
            </a:pPr>
            <a:r>
              <a:rPr lang="en-US" sz="3200"/>
              <a:t>3. Become a member using the QR code on this slide.</a:t>
            </a:r>
            <a:endParaRPr sz="3200"/>
          </a:p>
          <a:p>
            <a:pPr indent="0" lvl="0" marL="457200" rtl="0" algn="l">
              <a:lnSpc>
                <a:spcPct val="90000"/>
              </a:lnSpc>
              <a:spcBef>
                <a:spcPts val="1100"/>
              </a:spcBef>
              <a:spcAft>
                <a:spcPts val="0"/>
              </a:spcAft>
              <a:buSzPts val="1800"/>
              <a:buNone/>
            </a:pPr>
            <a:r>
              <a:rPr lang="en-US" sz="3200"/>
              <a:t>4. Attend workshops, participate in events, and join our leadership team.</a:t>
            </a:r>
            <a:endParaRPr sz="3200"/>
          </a:p>
          <a:p>
            <a:pPr indent="0" lvl="0" marL="457200" rtl="0" algn="l">
              <a:lnSpc>
                <a:spcPct val="90000"/>
              </a:lnSpc>
              <a:spcBef>
                <a:spcPts val="1100"/>
              </a:spcBef>
              <a:spcAft>
                <a:spcPts val="0"/>
              </a:spcAft>
              <a:buSzPts val="1800"/>
              <a:buNone/>
            </a:pPr>
            <a:r>
              <a:t/>
            </a:r>
            <a:endParaRPr sz="3200"/>
          </a:p>
          <a:p>
            <a:pPr indent="0" lvl="0" marL="0" rtl="0" algn="l">
              <a:lnSpc>
                <a:spcPct val="90000"/>
              </a:lnSpc>
              <a:spcBef>
                <a:spcPts val="1100"/>
              </a:spcBef>
              <a:spcAft>
                <a:spcPts val="0"/>
              </a:spcAft>
              <a:buSzPts val="1800"/>
              <a:buNone/>
            </a:pPr>
            <a:r>
              <a:rPr lang="en-US" sz="3200"/>
              <a:t>Together, we innovate and grow.</a:t>
            </a:r>
            <a:endParaRPr sz="3200"/>
          </a:p>
          <a:p>
            <a:pPr indent="0" lvl="0" marL="457200" rtl="0" algn="l">
              <a:lnSpc>
                <a:spcPct val="90000"/>
              </a:lnSpc>
              <a:spcBef>
                <a:spcPts val="1100"/>
              </a:spcBef>
              <a:spcAft>
                <a:spcPts val="0"/>
              </a:spcAft>
              <a:buSzPts val="1800"/>
              <a:buNone/>
            </a:pPr>
            <a:r>
              <a:t/>
            </a:r>
            <a:endParaRPr sz="3200"/>
          </a:p>
        </p:txBody>
      </p:sp>
      <p:pic>
        <p:nvPicPr>
          <p:cNvPr id="218" name="Google Shape;218;g2d75afc7928_0_66"/>
          <p:cNvPicPr preferRelativeResize="0"/>
          <p:nvPr/>
        </p:nvPicPr>
        <p:blipFill rotWithShape="1">
          <a:blip r:embed="rId3">
            <a:alphaModFix/>
          </a:blip>
          <a:srcRect b="0" l="0" r="0" t="0"/>
          <a:stretch/>
        </p:blipFill>
        <p:spPr>
          <a:xfrm>
            <a:off x="10173375" y="0"/>
            <a:ext cx="2015925" cy="20159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2" name="Shape 222"/>
        <p:cNvGrpSpPr/>
        <p:nvPr/>
      </p:nvGrpSpPr>
      <p:grpSpPr>
        <a:xfrm>
          <a:off x="0" y="0"/>
          <a:ext cx="0" cy="0"/>
          <a:chOff x="0" y="0"/>
          <a:chExt cx="0" cy="0"/>
        </a:xfrm>
      </p:grpSpPr>
      <p:sp>
        <p:nvSpPr>
          <p:cNvPr id="223" name="Google Shape;223;g2d75afc7928_0_12"/>
          <p:cNvSpPr/>
          <p:nvPr/>
        </p:nvSpPr>
        <p:spPr>
          <a:xfrm>
            <a:off x="0" y="0"/>
            <a:ext cx="121893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224" name="Google Shape;224;g2d75afc7928_0_12"/>
          <p:cNvSpPr txBox="1"/>
          <p:nvPr>
            <p:ph type="title"/>
          </p:nvPr>
        </p:nvSpPr>
        <p:spPr>
          <a:xfrm>
            <a:off x="572493" y="238539"/>
            <a:ext cx="11018400" cy="14343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500"/>
              <a:buFont typeface="Play"/>
              <a:buNone/>
            </a:pPr>
            <a:r>
              <a:rPr lang="en-US"/>
              <a:t>What we offer C6 Cyber Crunch</a:t>
            </a:r>
            <a:endParaRPr/>
          </a:p>
        </p:txBody>
      </p:sp>
      <p:sp>
        <p:nvSpPr>
          <p:cNvPr id="225" name="Google Shape;225;g2d75afc7928_0_12"/>
          <p:cNvSpPr/>
          <p:nvPr/>
        </p:nvSpPr>
        <p:spPr>
          <a:xfrm>
            <a:off x="572493" y="1681544"/>
            <a:ext cx="10972800" cy="18288"/>
          </a:xfrm>
          <a:custGeom>
            <a:rect b="b" l="l" r="r" t="t"/>
            <a:pathLst>
              <a:path extrusionOk="0" fill="none" h="18288" w="1097280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extrusionOk="0" h="18288" w="1097280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4117"/>
            </a:schemeClr>
          </a:solidFill>
          <a:ln cap="rnd" cmpd="sng" w="44450">
            <a:solidFill>
              <a:schemeClr val="accent2">
                <a:alpha val="74117"/>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226" name="Google Shape;226;g2d75afc7928_0_12"/>
          <p:cNvSpPr txBox="1"/>
          <p:nvPr>
            <p:ph idx="1" type="body"/>
          </p:nvPr>
        </p:nvSpPr>
        <p:spPr>
          <a:xfrm>
            <a:off x="572500" y="2071300"/>
            <a:ext cx="10922400" cy="41193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90000"/>
              </a:lnSpc>
              <a:spcBef>
                <a:spcPts val="0"/>
              </a:spcBef>
              <a:spcAft>
                <a:spcPts val="0"/>
              </a:spcAft>
              <a:buSzPts val="450"/>
              <a:buNone/>
            </a:pPr>
            <a:r>
              <a:rPr b="1" lang="en-US" sz="8000"/>
              <a:t>What to expect</a:t>
            </a:r>
            <a:endParaRPr b="1" sz="8000"/>
          </a:p>
          <a:p>
            <a:pPr indent="0" lvl="0" marL="0" rtl="0" algn="l">
              <a:lnSpc>
                <a:spcPct val="90000"/>
              </a:lnSpc>
              <a:spcBef>
                <a:spcPts val="0"/>
              </a:spcBef>
              <a:spcAft>
                <a:spcPts val="0"/>
              </a:spcAft>
              <a:buSzPct val="75000"/>
              <a:buNone/>
            </a:pPr>
            <a:r>
              <a:t/>
            </a:r>
            <a:endParaRPr b="1" sz="2400"/>
          </a:p>
          <a:p>
            <a:pPr indent="0" lvl="0" marL="0" rtl="0" algn="l">
              <a:lnSpc>
                <a:spcPct val="115000"/>
              </a:lnSpc>
              <a:spcBef>
                <a:spcPts val="0"/>
              </a:spcBef>
              <a:spcAft>
                <a:spcPts val="0"/>
              </a:spcAft>
              <a:buSzPts val="275"/>
              <a:buNone/>
            </a:pPr>
            <a:r>
              <a:rPr b="1" lang="en-US" sz="7200"/>
              <a:t>Learning Modules</a:t>
            </a:r>
            <a:endParaRPr b="1" sz="7200"/>
          </a:p>
          <a:p>
            <a:pPr indent="0" lvl="0" marL="0" rtl="0" algn="l">
              <a:lnSpc>
                <a:spcPct val="115000"/>
              </a:lnSpc>
              <a:spcBef>
                <a:spcPts val="0"/>
              </a:spcBef>
              <a:spcAft>
                <a:spcPts val="0"/>
              </a:spcAft>
              <a:buSzPts val="275"/>
              <a:buNone/>
            </a:pPr>
            <a:r>
              <a:rPr lang="en-US" sz="7200"/>
              <a:t>Learn about networking, ethical hacking, cryptography, incident response, and more.</a:t>
            </a:r>
            <a:endParaRPr sz="7200"/>
          </a:p>
          <a:p>
            <a:pPr indent="0" lvl="0" marL="0" rtl="0" algn="l">
              <a:lnSpc>
                <a:spcPct val="115000"/>
              </a:lnSpc>
              <a:spcBef>
                <a:spcPts val="0"/>
              </a:spcBef>
              <a:spcAft>
                <a:spcPts val="0"/>
              </a:spcAft>
              <a:buSzPts val="275"/>
              <a:buNone/>
            </a:pPr>
            <a:r>
              <a:t/>
            </a:r>
            <a:endParaRPr sz="7200"/>
          </a:p>
          <a:p>
            <a:pPr indent="0" lvl="0" marL="0" rtl="0" algn="l">
              <a:lnSpc>
                <a:spcPct val="115000"/>
              </a:lnSpc>
              <a:spcBef>
                <a:spcPts val="0"/>
              </a:spcBef>
              <a:spcAft>
                <a:spcPts val="0"/>
              </a:spcAft>
              <a:buSzPts val="275"/>
              <a:buNone/>
            </a:pPr>
            <a:r>
              <a:rPr b="1" lang="en-US" sz="7200"/>
              <a:t>Hands-On Labs and Workshops</a:t>
            </a:r>
            <a:endParaRPr b="1" sz="7200"/>
          </a:p>
          <a:p>
            <a:pPr indent="0" lvl="0" marL="0" rtl="0" algn="l">
              <a:lnSpc>
                <a:spcPct val="115000"/>
              </a:lnSpc>
              <a:spcBef>
                <a:spcPts val="0"/>
              </a:spcBef>
              <a:spcAft>
                <a:spcPts val="0"/>
              </a:spcAft>
              <a:buSzPts val="275"/>
              <a:buNone/>
            </a:pPr>
            <a:r>
              <a:rPr lang="en-US" sz="7200"/>
              <a:t>Practical exercises will help reinforce your learning. </a:t>
            </a:r>
            <a:endParaRPr sz="7200"/>
          </a:p>
          <a:p>
            <a:pPr indent="-342900" lvl="0" marL="457200" rtl="0" algn="l">
              <a:lnSpc>
                <a:spcPct val="115000"/>
              </a:lnSpc>
              <a:spcBef>
                <a:spcPts val="0"/>
              </a:spcBef>
              <a:spcAft>
                <a:spcPts val="0"/>
              </a:spcAft>
              <a:buSzPct val="100000"/>
              <a:buChar char="●"/>
            </a:pPr>
            <a:r>
              <a:rPr b="1" lang="en-US" sz="7200"/>
              <a:t>Tools:</a:t>
            </a:r>
            <a:r>
              <a:rPr lang="en-US" sz="7200"/>
              <a:t> TryHackMe, Wireshark, Nmap, and more. </a:t>
            </a:r>
            <a:endParaRPr sz="7200"/>
          </a:p>
          <a:p>
            <a:pPr indent="-342900" lvl="0" marL="457200" rtl="0" algn="l">
              <a:lnSpc>
                <a:spcPct val="115000"/>
              </a:lnSpc>
              <a:spcBef>
                <a:spcPts val="0"/>
              </a:spcBef>
              <a:spcAft>
                <a:spcPts val="0"/>
              </a:spcAft>
              <a:buSzPct val="100000"/>
              <a:buChar char="●"/>
            </a:pPr>
            <a:r>
              <a:rPr lang="en-US" sz="7200"/>
              <a:t>Real-world scenarios and challenges to prepare you for practical cybersecurity roles.</a:t>
            </a:r>
            <a:endParaRPr sz="7200"/>
          </a:p>
          <a:p>
            <a:pPr indent="0" lvl="0" marL="0" rtl="0" algn="l">
              <a:lnSpc>
                <a:spcPct val="115000"/>
              </a:lnSpc>
              <a:spcBef>
                <a:spcPts val="0"/>
              </a:spcBef>
              <a:spcAft>
                <a:spcPts val="0"/>
              </a:spcAft>
              <a:buSzPts val="275"/>
              <a:buNone/>
            </a:pPr>
            <a:r>
              <a:t/>
            </a:r>
            <a:endParaRPr sz="7200"/>
          </a:p>
          <a:p>
            <a:pPr indent="0" lvl="0" marL="0" rtl="0" algn="l">
              <a:lnSpc>
                <a:spcPct val="115000"/>
              </a:lnSpc>
              <a:spcBef>
                <a:spcPts val="0"/>
              </a:spcBef>
              <a:spcAft>
                <a:spcPts val="0"/>
              </a:spcAft>
              <a:buSzPts val="275"/>
              <a:buNone/>
            </a:pPr>
            <a:r>
              <a:rPr b="1" lang="en-US" sz="7200"/>
              <a:t>Capstone Project</a:t>
            </a:r>
            <a:endParaRPr b="1" sz="7200"/>
          </a:p>
          <a:p>
            <a:pPr indent="0" lvl="0" marL="0" rtl="0" algn="l">
              <a:lnSpc>
                <a:spcPct val="115000"/>
              </a:lnSpc>
              <a:spcBef>
                <a:spcPts val="0"/>
              </a:spcBef>
              <a:spcAft>
                <a:spcPts val="0"/>
              </a:spcAft>
              <a:buSzPts val="275"/>
              <a:buNone/>
            </a:pPr>
            <a:r>
              <a:rPr lang="en-US" sz="7200"/>
              <a:t>Apply everything you've learned in a capstone project, where you’ll tackle a real-world cybersecurity challenge. </a:t>
            </a:r>
            <a:endParaRPr sz="7200"/>
          </a:p>
          <a:p>
            <a:pPr indent="-342900" lvl="0" marL="457200" rtl="0" algn="l">
              <a:lnSpc>
                <a:spcPct val="115000"/>
              </a:lnSpc>
              <a:spcBef>
                <a:spcPts val="0"/>
              </a:spcBef>
              <a:spcAft>
                <a:spcPts val="0"/>
              </a:spcAft>
              <a:buSzPct val="100000"/>
              <a:buChar char="●"/>
            </a:pPr>
            <a:r>
              <a:rPr lang="en-US" sz="7200"/>
              <a:t>Build secure applications, perform vulnerability assessments, or create encryption-based solutions.</a:t>
            </a:r>
            <a:endParaRPr sz="7200"/>
          </a:p>
          <a:p>
            <a:pPr indent="0" lvl="0" marL="0" rtl="0" algn="l">
              <a:lnSpc>
                <a:spcPct val="115000"/>
              </a:lnSpc>
              <a:spcBef>
                <a:spcPts val="0"/>
              </a:spcBef>
              <a:spcAft>
                <a:spcPts val="0"/>
              </a:spcAft>
              <a:buNone/>
            </a:pPr>
            <a:r>
              <a:t/>
            </a:r>
            <a:endParaRPr sz="7200"/>
          </a:p>
          <a:p>
            <a:pPr indent="0" lvl="0" marL="0" rtl="0" algn="l">
              <a:lnSpc>
                <a:spcPct val="115000"/>
              </a:lnSpc>
              <a:spcBef>
                <a:spcPts val="0"/>
              </a:spcBef>
              <a:spcAft>
                <a:spcPts val="0"/>
              </a:spcAft>
              <a:buSzPts val="275"/>
              <a:buNone/>
            </a:pPr>
            <a:r>
              <a:rPr b="1" lang="en-US" sz="7200"/>
              <a:t>Career Insights and Guidance</a:t>
            </a:r>
            <a:endParaRPr b="1" sz="7200"/>
          </a:p>
          <a:p>
            <a:pPr indent="0" lvl="0" marL="0" rtl="0" algn="l">
              <a:lnSpc>
                <a:spcPct val="115000"/>
              </a:lnSpc>
              <a:spcBef>
                <a:spcPts val="0"/>
              </a:spcBef>
              <a:spcAft>
                <a:spcPts val="0"/>
              </a:spcAft>
              <a:buSzPts val="275"/>
              <a:buNone/>
            </a:pPr>
            <a:r>
              <a:rPr lang="en-US" sz="7200"/>
              <a:t>Exposure to different career paths in cybersecurity, mentorship, and discussions about the industry’s current trends.</a:t>
            </a:r>
            <a:endParaRPr sz="7200"/>
          </a:p>
        </p:txBody>
      </p:sp>
      <p:pic>
        <p:nvPicPr>
          <p:cNvPr id="227" name="Google Shape;227;g2d75afc7928_0_12"/>
          <p:cNvPicPr preferRelativeResize="0"/>
          <p:nvPr/>
        </p:nvPicPr>
        <p:blipFill rotWithShape="1">
          <a:blip r:embed="rId3">
            <a:alphaModFix/>
          </a:blip>
          <a:srcRect b="0" l="0" r="0" t="0"/>
          <a:stretch/>
        </p:blipFill>
        <p:spPr>
          <a:xfrm>
            <a:off x="10173375" y="0"/>
            <a:ext cx="2015925" cy="20159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1" name="Shape 231"/>
        <p:cNvGrpSpPr/>
        <p:nvPr/>
      </p:nvGrpSpPr>
      <p:grpSpPr>
        <a:xfrm>
          <a:off x="0" y="0"/>
          <a:ext cx="0" cy="0"/>
          <a:chOff x="0" y="0"/>
          <a:chExt cx="0" cy="0"/>
        </a:xfrm>
      </p:grpSpPr>
      <p:sp>
        <p:nvSpPr>
          <p:cNvPr id="232" name="Google Shape;232;g328a811bf00_1_17"/>
          <p:cNvSpPr/>
          <p:nvPr/>
        </p:nvSpPr>
        <p:spPr>
          <a:xfrm>
            <a:off x="0" y="0"/>
            <a:ext cx="121893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233" name="Google Shape;233;g328a811bf00_1_17"/>
          <p:cNvSpPr txBox="1"/>
          <p:nvPr>
            <p:ph type="title"/>
          </p:nvPr>
        </p:nvSpPr>
        <p:spPr>
          <a:xfrm>
            <a:off x="572493" y="238539"/>
            <a:ext cx="11018400" cy="14343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4400"/>
              <a:buFont typeface="Play"/>
              <a:buNone/>
            </a:pPr>
            <a:r>
              <a:rPr lang="en-US"/>
              <a:t>Key Dates &amp; Structure</a:t>
            </a:r>
            <a:endParaRPr/>
          </a:p>
          <a:p>
            <a:pPr indent="0" lvl="0" marL="0" rtl="0" algn="l">
              <a:spcBef>
                <a:spcPts val="0"/>
              </a:spcBef>
              <a:spcAft>
                <a:spcPts val="0"/>
              </a:spcAft>
              <a:buClr>
                <a:schemeClr val="dk1"/>
              </a:buClr>
              <a:buSzPts val="4400"/>
              <a:buFont typeface="Play"/>
              <a:buNone/>
            </a:pPr>
            <a:r>
              <a:rPr lang="en-US"/>
              <a:t>C6 | Cyber Crunch</a:t>
            </a:r>
            <a:endParaRPr/>
          </a:p>
        </p:txBody>
      </p:sp>
      <p:sp>
        <p:nvSpPr>
          <p:cNvPr id="234" name="Google Shape;234;g328a811bf00_1_17"/>
          <p:cNvSpPr/>
          <p:nvPr/>
        </p:nvSpPr>
        <p:spPr>
          <a:xfrm>
            <a:off x="572493" y="1681544"/>
            <a:ext cx="10972800" cy="18288"/>
          </a:xfrm>
          <a:custGeom>
            <a:rect b="b" l="l" r="r" t="t"/>
            <a:pathLst>
              <a:path extrusionOk="0" fill="none" h="18288" w="1097280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extrusionOk="0" h="18288" w="1097280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4120"/>
            </a:schemeClr>
          </a:solidFill>
          <a:ln cap="rnd" cmpd="sng" w="44450">
            <a:solidFill>
              <a:schemeClr val="accent2">
                <a:alpha val="7412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235" name="Google Shape;235;g328a811bf00_1_17"/>
          <p:cNvSpPr txBox="1"/>
          <p:nvPr>
            <p:ph idx="1" type="body"/>
          </p:nvPr>
        </p:nvSpPr>
        <p:spPr>
          <a:xfrm>
            <a:off x="572500" y="2071300"/>
            <a:ext cx="10922400" cy="4705200"/>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90000"/>
              </a:lnSpc>
              <a:spcBef>
                <a:spcPts val="0"/>
              </a:spcBef>
              <a:spcAft>
                <a:spcPts val="0"/>
              </a:spcAft>
              <a:buSzPts val="1800"/>
              <a:buNone/>
            </a:pPr>
            <a:r>
              <a:rPr b="1" lang="en-US" sz="2000"/>
              <a:t>Cyber Crunch: Workshop Structure</a:t>
            </a:r>
            <a:endParaRPr b="1" sz="2000"/>
          </a:p>
          <a:p>
            <a:pPr indent="0" lvl="0" marL="0" rtl="0" algn="l">
              <a:lnSpc>
                <a:spcPct val="90000"/>
              </a:lnSpc>
              <a:spcBef>
                <a:spcPts val="0"/>
              </a:spcBef>
              <a:spcAft>
                <a:spcPts val="0"/>
              </a:spcAft>
              <a:buSzPts val="1800"/>
              <a:buNone/>
            </a:pPr>
            <a:r>
              <a:t/>
            </a:r>
            <a:endParaRPr b="1" sz="1500"/>
          </a:p>
          <a:p>
            <a:pPr indent="-323850" lvl="0" marL="457200" rtl="0" algn="l">
              <a:lnSpc>
                <a:spcPct val="115000"/>
              </a:lnSpc>
              <a:spcBef>
                <a:spcPts val="1200"/>
              </a:spcBef>
              <a:spcAft>
                <a:spcPts val="0"/>
              </a:spcAft>
              <a:buSzPts val="1500"/>
              <a:buAutoNum type="arabicPeriod"/>
            </a:pPr>
            <a:r>
              <a:rPr b="1" lang="en-US" sz="1500"/>
              <a:t>Introduction to Cybersecurity</a:t>
            </a:r>
            <a:endParaRPr b="1" sz="1500"/>
          </a:p>
          <a:p>
            <a:pPr indent="-323850" lvl="1" marL="914400" rtl="0" algn="l">
              <a:lnSpc>
                <a:spcPct val="115000"/>
              </a:lnSpc>
              <a:spcBef>
                <a:spcPts val="0"/>
              </a:spcBef>
              <a:spcAft>
                <a:spcPts val="0"/>
              </a:spcAft>
              <a:buSzPts val="1500"/>
              <a:buChar char="•"/>
            </a:pPr>
            <a:r>
              <a:rPr b="1" lang="en-US" sz="1500"/>
              <a:t>Topics: </a:t>
            </a:r>
            <a:r>
              <a:rPr lang="en-US" sz="1500"/>
              <a:t>Overview of Cybersecurity, Threats and Vulnerabilities, Careers in Cybersecurity.</a:t>
            </a:r>
            <a:endParaRPr b="1" sz="1500"/>
          </a:p>
          <a:p>
            <a:pPr indent="-323850" lvl="1" marL="914400" rtl="0" algn="l">
              <a:lnSpc>
                <a:spcPct val="115000"/>
              </a:lnSpc>
              <a:spcBef>
                <a:spcPts val="0"/>
              </a:spcBef>
              <a:spcAft>
                <a:spcPts val="0"/>
              </a:spcAft>
              <a:buSzPts val="1500"/>
              <a:buChar char="•"/>
            </a:pPr>
            <a:r>
              <a:rPr b="1" lang="en-US" sz="1500"/>
              <a:t>Lab: </a:t>
            </a:r>
            <a:r>
              <a:rPr lang="en-US" sz="1500"/>
              <a:t>Discuss famous cybersecurity breaches, set up TryHackMe.</a:t>
            </a:r>
            <a:endParaRPr b="1" sz="1500"/>
          </a:p>
          <a:p>
            <a:pPr indent="-323850" lvl="0" marL="457200" rtl="0" algn="l">
              <a:lnSpc>
                <a:spcPct val="115000"/>
              </a:lnSpc>
              <a:spcBef>
                <a:spcPts val="0"/>
              </a:spcBef>
              <a:spcAft>
                <a:spcPts val="0"/>
              </a:spcAft>
              <a:buSzPts val="1500"/>
              <a:buAutoNum type="arabicPeriod"/>
            </a:pPr>
            <a:r>
              <a:rPr b="1" lang="en-US" sz="1500"/>
              <a:t>Linux Fundamentals</a:t>
            </a:r>
            <a:endParaRPr b="1" sz="1500"/>
          </a:p>
          <a:p>
            <a:pPr indent="-323850" lvl="1" marL="914400" rtl="0" algn="l">
              <a:lnSpc>
                <a:spcPct val="115000"/>
              </a:lnSpc>
              <a:spcBef>
                <a:spcPts val="0"/>
              </a:spcBef>
              <a:spcAft>
                <a:spcPts val="0"/>
              </a:spcAft>
              <a:buSzPts val="1500"/>
              <a:buChar char="•"/>
            </a:pPr>
            <a:r>
              <a:rPr b="1" lang="en-US" sz="1500"/>
              <a:t>Topics:</a:t>
            </a:r>
            <a:r>
              <a:rPr lang="en-US" sz="1500"/>
              <a:t> Overview of Linux, </a:t>
            </a:r>
            <a:r>
              <a:rPr lang="en-US" sz="1500"/>
              <a:t>Linux command lines, why use Linux in Cybersecurity.</a:t>
            </a:r>
            <a:endParaRPr sz="1500"/>
          </a:p>
          <a:p>
            <a:pPr indent="-323850" lvl="1" marL="914400" rtl="0" algn="l">
              <a:lnSpc>
                <a:spcPct val="115000"/>
              </a:lnSpc>
              <a:spcBef>
                <a:spcPts val="0"/>
              </a:spcBef>
              <a:spcAft>
                <a:spcPts val="0"/>
              </a:spcAft>
              <a:buSzPts val="1500"/>
              <a:buChar char="•"/>
            </a:pPr>
            <a:r>
              <a:rPr b="1" lang="en-US" sz="1500"/>
              <a:t>Lab: </a:t>
            </a:r>
            <a:r>
              <a:rPr lang="en-US" sz="1500"/>
              <a:t>Linux Basics with TryHackMe, File System Scavenger Hunt.</a:t>
            </a:r>
            <a:endParaRPr b="1" sz="1500"/>
          </a:p>
          <a:p>
            <a:pPr indent="-323850" lvl="0" marL="457200" rtl="0" algn="l">
              <a:lnSpc>
                <a:spcPct val="115000"/>
              </a:lnSpc>
              <a:spcBef>
                <a:spcPts val="0"/>
              </a:spcBef>
              <a:spcAft>
                <a:spcPts val="0"/>
              </a:spcAft>
              <a:buSzPts val="1500"/>
              <a:buAutoNum type="arabicPeriod"/>
            </a:pPr>
            <a:r>
              <a:rPr b="1" lang="en-US" sz="1500"/>
              <a:t>Networking Fundamentals</a:t>
            </a:r>
            <a:endParaRPr b="1" sz="1500"/>
          </a:p>
          <a:p>
            <a:pPr indent="-323850" lvl="1" marL="914400" rtl="0" algn="l">
              <a:lnSpc>
                <a:spcPct val="115000"/>
              </a:lnSpc>
              <a:spcBef>
                <a:spcPts val="0"/>
              </a:spcBef>
              <a:spcAft>
                <a:spcPts val="0"/>
              </a:spcAft>
              <a:buSzPts val="1500"/>
              <a:buChar char="•"/>
            </a:pPr>
            <a:r>
              <a:rPr b="1" lang="en-US" sz="1500"/>
              <a:t>Topics: </a:t>
            </a:r>
            <a:r>
              <a:rPr lang="en-US" sz="1500"/>
              <a:t>Networking overview, IP Addressing, subnets and gateways, protocols, tools (Wireshark, Nmap, Firewalls and VPNs).</a:t>
            </a:r>
            <a:endParaRPr b="1" sz="1500"/>
          </a:p>
          <a:p>
            <a:pPr indent="-323850" lvl="1" marL="914400" rtl="0" algn="l">
              <a:lnSpc>
                <a:spcPct val="115000"/>
              </a:lnSpc>
              <a:spcBef>
                <a:spcPts val="0"/>
              </a:spcBef>
              <a:spcAft>
                <a:spcPts val="0"/>
              </a:spcAft>
              <a:buSzPts val="1500"/>
              <a:buChar char="•"/>
            </a:pPr>
            <a:r>
              <a:rPr b="1" lang="en-US" sz="1500"/>
              <a:t>Lab: </a:t>
            </a:r>
            <a:r>
              <a:rPr lang="en-US" sz="1500"/>
              <a:t>Packet Tracing Challenge.</a:t>
            </a:r>
            <a:endParaRPr b="1" sz="1500"/>
          </a:p>
          <a:p>
            <a:pPr indent="-323850" lvl="0" marL="457200" rtl="0" algn="l">
              <a:lnSpc>
                <a:spcPct val="115000"/>
              </a:lnSpc>
              <a:spcBef>
                <a:spcPts val="0"/>
              </a:spcBef>
              <a:spcAft>
                <a:spcPts val="0"/>
              </a:spcAft>
              <a:buSzPts val="1500"/>
              <a:buAutoNum type="arabicPeriod"/>
            </a:pPr>
            <a:r>
              <a:rPr b="1" lang="en-US" sz="1500"/>
              <a:t>Cryptography</a:t>
            </a:r>
            <a:endParaRPr b="1" sz="1500"/>
          </a:p>
          <a:p>
            <a:pPr indent="-323850" lvl="1" marL="914400" rtl="0" algn="l">
              <a:lnSpc>
                <a:spcPct val="115000"/>
              </a:lnSpc>
              <a:spcBef>
                <a:spcPts val="0"/>
              </a:spcBef>
              <a:spcAft>
                <a:spcPts val="0"/>
              </a:spcAft>
              <a:buSzPts val="1500"/>
              <a:buChar char="•"/>
            </a:pPr>
            <a:r>
              <a:rPr b="1" lang="en-US" sz="1500"/>
              <a:t>Topics: </a:t>
            </a:r>
            <a:r>
              <a:rPr lang="en-US" sz="1500"/>
              <a:t>What is Cryptography, Symmetric vs. Asymmetric Encryption, Hashing Algorithms (SHA, MD5), Cryptography in Cybersecurity.</a:t>
            </a:r>
            <a:endParaRPr b="1" sz="1500"/>
          </a:p>
          <a:p>
            <a:pPr indent="-323850" lvl="1" marL="914400" rtl="0" algn="l">
              <a:lnSpc>
                <a:spcPct val="115000"/>
              </a:lnSpc>
              <a:spcBef>
                <a:spcPts val="0"/>
              </a:spcBef>
              <a:spcAft>
                <a:spcPts val="0"/>
              </a:spcAft>
              <a:buSzPts val="1500"/>
              <a:buChar char="•"/>
            </a:pPr>
            <a:r>
              <a:rPr b="1" lang="en-US" sz="1500"/>
              <a:t>Lab: </a:t>
            </a:r>
            <a:r>
              <a:rPr lang="en-US" sz="1500"/>
              <a:t>Message Encryption and Decryption.</a:t>
            </a:r>
            <a:endParaRPr b="1" sz="1500"/>
          </a:p>
          <a:p>
            <a:pPr indent="-323850" lvl="0" marL="457200" rtl="0" algn="l">
              <a:lnSpc>
                <a:spcPct val="115000"/>
              </a:lnSpc>
              <a:spcBef>
                <a:spcPts val="0"/>
              </a:spcBef>
              <a:spcAft>
                <a:spcPts val="0"/>
              </a:spcAft>
              <a:buSzPts val="1500"/>
              <a:buAutoNum type="arabicPeriod"/>
            </a:pPr>
            <a:r>
              <a:rPr b="1" lang="en-US" sz="1500"/>
              <a:t>Ethical Hacking</a:t>
            </a:r>
            <a:endParaRPr b="1" sz="1500"/>
          </a:p>
          <a:p>
            <a:pPr indent="-323850" lvl="1" marL="914400" rtl="0" algn="l">
              <a:lnSpc>
                <a:spcPct val="115000"/>
              </a:lnSpc>
              <a:spcBef>
                <a:spcPts val="0"/>
              </a:spcBef>
              <a:spcAft>
                <a:spcPts val="0"/>
              </a:spcAft>
              <a:buSzPts val="1500"/>
              <a:buChar char="•"/>
            </a:pPr>
            <a:r>
              <a:rPr b="1" lang="en-US" sz="1500"/>
              <a:t>Topics: </a:t>
            </a:r>
            <a:r>
              <a:rPr lang="en-US" sz="1500"/>
              <a:t>What is ethical hacking, types of hackers, careers in ethical hacking</a:t>
            </a:r>
            <a:endParaRPr sz="1500"/>
          </a:p>
          <a:p>
            <a:pPr indent="-323850" lvl="1" marL="914400" rtl="0" algn="l">
              <a:lnSpc>
                <a:spcPct val="115000"/>
              </a:lnSpc>
              <a:spcBef>
                <a:spcPts val="0"/>
              </a:spcBef>
              <a:spcAft>
                <a:spcPts val="0"/>
              </a:spcAft>
              <a:buSzPts val="1500"/>
              <a:buChar char="•"/>
            </a:pPr>
            <a:r>
              <a:rPr b="1" lang="en-US" sz="1500"/>
              <a:t>Lab: </a:t>
            </a:r>
            <a:r>
              <a:rPr lang="en-US" sz="1500"/>
              <a:t>Penetration Testing on a simulated environment.</a:t>
            </a:r>
            <a:endParaRPr b="1" sz="1500"/>
          </a:p>
        </p:txBody>
      </p:sp>
      <p:pic>
        <p:nvPicPr>
          <p:cNvPr id="236" name="Google Shape;236;g328a811bf00_1_17"/>
          <p:cNvPicPr preferRelativeResize="0"/>
          <p:nvPr/>
        </p:nvPicPr>
        <p:blipFill rotWithShape="1">
          <a:blip r:embed="rId3">
            <a:alphaModFix/>
          </a:blip>
          <a:srcRect b="0" l="0" r="0" t="0"/>
          <a:stretch/>
        </p:blipFill>
        <p:spPr>
          <a:xfrm>
            <a:off x="10173375" y="0"/>
            <a:ext cx="2015925" cy="20159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0" name="Shape 240"/>
        <p:cNvGrpSpPr/>
        <p:nvPr/>
      </p:nvGrpSpPr>
      <p:grpSpPr>
        <a:xfrm>
          <a:off x="0" y="0"/>
          <a:ext cx="0" cy="0"/>
          <a:chOff x="0" y="0"/>
          <a:chExt cx="0" cy="0"/>
        </a:xfrm>
      </p:grpSpPr>
      <p:sp>
        <p:nvSpPr>
          <p:cNvPr id="241" name="Google Shape;241;g328a811bf00_1_9"/>
          <p:cNvSpPr/>
          <p:nvPr/>
        </p:nvSpPr>
        <p:spPr>
          <a:xfrm>
            <a:off x="0" y="0"/>
            <a:ext cx="121893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242" name="Google Shape;242;g328a811bf00_1_9"/>
          <p:cNvSpPr txBox="1"/>
          <p:nvPr>
            <p:ph type="title"/>
          </p:nvPr>
        </p:nvSpPr>
        <p:spPr>
          <a:xfrm>
            <a:off x="572493" y="238539"/>
            <a:ext cx="11018400" cy="14343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4400"/>
              <a:buFont typeface="Play"/>
              <a:buNone/>
            </a:pPr>
            <a:r>
              <a:rPr lang="en-US"/>
              <a:t>Key Dates &amp; Structure</a:t>
            </a:r>
            <a:endParaRPr/>
          </a:p>
          <a:p>
            <a:pPr indent="0" lvl="0" marL="0" rtl="0" algn="l">
              <a:spcBef>
                <a:spcPts val="0"/>
              </a:spcBef>
              <a:spcAft>
                <a:spcPts val="0"/>
              </a:spcAft>
              <a:buClr>
                <a:schemeClr val="dk1"/>
              </a:buClr>
              <a:buSzPts val="4400"/>
              <a:buFont typeface="Play"/>
              <a:buNone/>
            </a:pPr>
            <a:r>
              <a:rPr lang="en-US"/>
              <a:t>C6 | Cyber Crunch</a:t>
            </a:r>
            <a:endParaRPr/>
          </a:p>
        </p:txBody>
      </p:sp>
      <p:sp>
        <p:nvSpPr>
          <p:cNvPr id="243" name="Google Shape;243;g328a811bf00_1_9"/>
          <p:cNvSpPr/>
          <p:nvPr/>
        </p:nvSpPr>
        <p:spPr>
          <a:xfrm>
            <a:off x="572493" y="1681544"/>
            <a:ext cx="10972800" cy="18288"/>
          </a:xfrm>
          <a:custGeom>
            <a:rect b="b" l="l" r="r" t="t"/>
            <a:pathLst>
              <a:path extrusionOk="0" fill="none" h="18288" w="1097280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extrusionOk="0" h="18288" w="1097280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4120"/>
            </a:schemeClr>
          </a:solidFill>
          <a:ln cap="rnd" cmpd="sng" w="44450">
            <a:solidFill>
              <a:schemeClr val="accent2">
                <a:alpha val="7412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244" name="Google Shape;244;g328a811bf00_1_9"/>
          <p:cNvSpPr txBox="1"/>
          <p:nvPr>
            <p:ph idx="1" type="body"/>
          </p:nvPr>
        </p:nvSpPr>
        <p:spPr>
          <a:xfrm>
            <a:off x="597700" y="1799700"/>
            <a:ext cx="11149200" cy="47868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1800"/>
              <a:buNone/>
            </a:pPr>
            <a:r>
              <a:rPr b="1" lang="en-US" sz="2000"/>
              <a:t>Cyber Crunch: Workshop Structure</a:t>
            </a:r>
            <a:endParaRPr b="1" sz="2000"/>
          </a:p>
          <a:p>
            <a:pPr indent="0" lvl="0" marL="0" rtl="0" algn="l">
              <a:lnSpc>
                <a:spcPct val="90000"/>
              </a:lnSpc>
              <a:spcBef>
                <a:spcPts val="0"/>
              </a:spcBef>
              <a:spcAft>
                <a:spcPts val="0"/>
              </a:spcAft>
              <a:buSzPts val="1800"/>
              <a:buNone/>
            </a:pPr>
            <a:r>
              <a:t/>
            </a:r>
            <a:endParaRPr b="1" sz="1400"/>
          </a:p>
          <a:p>
            <a:pPr indent="0" lvl="0" marL="0" rtl="0" algn="l">
              <a:lnSpc>
                <a:spcPct val="115000"/>
              </a:lnSpc>
              <a:spcBef>
                <a:spcPts val="1200"/>
              </a:spcBef>
              <a:spcAft>
                <a:spcPts val="1200"/>
              </a:spcAft>
              <a:buNone/>
            </a:pPr>
            <a:r>
              <a:rPr b="1" lang="en-US" sz="1400"/>
              <a:t>6.	</a:t>
            </a:r>
            <a:r>
              <a:rPr b="1" lang="en-US" sz="1400"/>
              <a:t>Web Application Security</a:t>
            </a:r>
            <a:br>
              <a:rPr b="1" lang="en-US" sz="1400"/>
            </a:br>
            <a:r>
              <a:rPr b="1" lang="en-US" sz="1400"/>
              <a:t>		- Topics: </a:t>
            </a:r>
            <a:r>
              <a:rPr lang="en-US" sz="1400"/>
              <a:t>What is Web Security, common Vulnerabilities (SQL Injection, XSS, CSRF), OWASP Top 10 Overview, securing      web applications.</a:t>
            </a:r>
            <a:br>
              <a:rPr lang="en-US" sz="1400"/>
            </a:br>
            <a:r>
              <a:rPr lang="en-US" sz="1400"/>
              <a:t>		</a:t>
            </a:r>
            <a:r>
              <a:rPr b="1" lang="en-US" sz="1400"/>
              <a:t>- Lab: </a:t>
            </a:r>
            <a:r>
              <a:rPr lang="en-US" sz="1400"/>
              <a:t>Web Application Attack Simulation, set up a basic web application and test for vulnerabilities.</a:t>
            </a:r>
            <a:br>
              <a:rPr lang="en-US" sz="1400"/>
            </a:br>
            <a:r>
              <a:rPr b="1" lang="en-US" sz="1400"/>
              <a:t>7. 	Threat Detection and Incident Response</a:t>
            </a:r>
            <a:br>
              <a:rPr b="1" lang="en-US" sz="1400"/>
            </a:br>
            <a:r>
              <a:rPr b="1" lang="en-US" sz="1400"/>
              <a:t>		- Topics: </a:t>
            </a:r>
            <a:r>
              <a:rPr lang="en-US" sz="1400"/>
              <a:t>Overview of Threat Detection and Incident Response, intrusion detection systems (Snort, Suricata).</a:t>
            </a:r>
            <a:br>
              <a:rPr b="1" lang="en-US" sz="1400"/>
            </a:br>
            <a:r>
              <a:rPr b="1" lang="en-US" sz="1400"/>
              <a:t>		- Lab: </a:t>
            </a:r>
            <a:r>
              <a:rPr lang="en-US" sz="1400"/>
              <a:t>Simulated Incident Response</a:t>
            </a:r>
            <a:br>
              <a:rPr b="1" lang="en-US" sz="1400"/>
            </a:br>
            <a:r>
              <a:rPr b="1" lang="en-US" sz="1400"/>
              <a:t>8. 	Operating Systems Security</a:t>
            </a:r>
            <a:br>
              <a:rPr b="1" lang="en-US" sz="1400"/>
            </a:br>
            <a:r>
              <a:rPr b="1" lang="en-US" sz="1400"/>
              <a:t>		- Topics: </a:t>
            </a:r>
            <a:r>
              <a:rPr lang="en-US" sz="1400"/>
              <a:t>Securing Windows and Linux Systems, understanding file permissions and access control, logging and monitoring.</a:t>
            </a:r>
            <a:br>
              <a:rPr b="1" lang="en-US" sz="1400"/>
            </a:br>
            <a:r>
              <a:rPr b="1" lang="en-US" sz="1400"/>
              <a:t>		- Lab: </a:t>
            </a:r>
            <a:r>
              <a:rPr lang="en-US" sz="1400"/>
              <a:t>Practice securing a Linux environment, review Windows Security Event Logs.</a:t>
            </a:r>
            <a:br>
              <a:rPr b="1" lang="en-US" sz="1400"/>
            </a:br>
            <a:r>
              <a:rPr b="1" lang="en-US" sz="1400"/>
              <a:t>9.	Security Tools and Practices</a:t>
            </a:r>
            <a:br>
              <a:rPr b="1" lang="en-US" sz="1400"/>
            </a:br>
            <a:r>
              <a:rPr b="1" lang="en-US" sz="1400"/>
              <a:t>		- Topics: </a:t>
            </a:r>
            <a:r>
              <a:rPr lang="en-US" sz="1400"/>
              <a:t>Firewalls, endpoint security solutions</a:t>
            </a:r>
            <a:br>
              <a:rPr b="1" lang="en-US" sz="1400"/>
            </a:br>
            <a:r>
              <a:rPr b="1" lang="en-US" sz="1400"/>
              <a:t>		- Lab: </a:t>
            </a:r>
            <a:r>
              <a:rPr lang="en-US" sz="1400"/>
              <a:t>Set up and configure a simple firewall using pfSense.</a:t>
            </a:r>
            <a:br>
              <a:rPr b="1" lang="en-US" sz="1400"/>
            </a:br>
            <a:r>
              <a:rPr b="1" lang="en-US" sz="1400"/>
              <a:t>10.	Capstone Project and Presentation</a:t>
            </a:r>
            <a:br>
              <a:rPr b="1" lang="en-US" sz="1400"/>
            </a:br>
            <a:r>
              <a:rPr b="1" lang="en-US" sz="1400"/>
              <a:t>		</a:t>
            </a:r>
            <a:r>
              <a:rPr lang="en-US" sz="1400"/>
              <a:t>-</a:t>
            </a:r>
            <a:r>
              <a:rPr b="1" lang="en-US" sz="1400"/>
              <a:t> </a:t>
            </a:r>
            <a:r>
              <a:rPr lang="en-US" sz="1400"/>
              <a:t>Build a secure web application and identify vulnerabilities.</a:t>
            </a:r>
            <a:br>
              <a:rPr lang="en-US" sz="1400"/>
            </a:br>
            <a:r>
              <a:rPr lang="en-US" sz="1400"/>
              <a:t>		- Perform a vulnerability assessment of a simulated network.</a:t>
            </a:r>
            <a:br>
              <a:rPr lang="en-US" sz="1400"/>
            </a:br>
            <a:r>
              <a:rPr lang="en-US" sz="1400"/>
              <a:t>		- Create a cryptography-based secure messaging application.</a:t>
            </a:r>
            <a:endParaRPr b="1" sz="1400"/>
          </a:p>
        </p:txBody>
      </p:sp>
      <p:pic>
        <p:nvPicPr>
          <p:cNvPr id="245" name="Google Shape;245;g328a811bf00_1_9"/>
          <p:cNvPicPr preferRelativeResize="0"/>
          <p:nvPr/>
        </p:nvPicPr>
        <p:blipFill rotWithShape="1">
          <a:blip r:embed="rId3">
            <a:alphaModFix/>
          </a:blip>
          <a:srcRect b="0" l="0" r="0" t="0"/>
          <a:stretch/>
        </p:blipFill>
        <p:spPr>
          <a:xfrm>
            <a:off x="10173375" y="0"/>
            <a:ext cx="2015925" cy="20159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9" name="Shape 249"/>
        <p:cNvGrpSpPr/>
        <p:nvPr/>
      </p:nvGrpSpPr>
      <p:grpSpPr>
        <a:xfrm>
          <a:off x="0" y="0"/>
          <a:ext cx="0" cy="0"/>
          <a:chOff x="0" y="0"/>
          <a:chExt cx="0" cy="0"/>
        </a:xfrm>
      </p:grpSpPr>
      <p:sp>
        <p:nvSpPr>
          <p:cNvPr id="250" name="Google Shape;250;g2d75afc7928_0_76"/>
          <p:cNvSpPr/>
          <p:nvPr/>
        </p:nvSpPr>
        <p:spPr>
          <a:xfrm>
            <a:off x="0" y="0"/>
            <a:ext cx="121893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251" name="Google Shape;251;g2d75afc7928_0_76"/>
          <p:cNvSpPr txBox="1"/>
          <p:nvPr>
            <p:ph type="title"/>
          </p:nvPr>
        </p:nvSpPr>
        <p:spPr>
          <a:xfrm>
            <a:off x="572493" y="238539"/>
            <a:ext cx="11018400" cy="14343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500"/>
              <a:buFont typeface="Play"/>
              <a:buNone/>
            </a:pPr>
            <a:r>
              <a:rPr lang="en-US">
                <a:latin typeface="Calibri"/>
                <a:ea typeface="Calibri"/>
                <a:cs typeface="Calibri"/>
                <a:sym typeface="Calibri"/>
              </a:rPr>
              <a:t>Let’s Innovate Together!</a:t>
            </a:r>
            <a:endParaRPr/>
          </a:p>
        </p:txBody>
      </p:sp>
      <p:sp>
        <p:nvSpPr>
          <p:cNvPr id="252" name="Google Shape;252;g2d75afc7928_0_76"/>
          <p:cNvSpPr/>
          <p:nvPr/>
        </p:nvSpPr>
        <p:spPr>
          <a:xfrm>
            <a:off x="572493" y="1681544"/>
            <a:ext cx="10972800" cy="18288"/>
          </a:xfrm>
          <a:custGeom>
            <a:rect b="b" l="l" r="r" t="t"/>
            <a:pathLst>
              <a:path extrusionOk="0" fill="none" h="18288" w="1097280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extrusionOk="0" h="18288" w="1097280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4117"/>
            </a:schemeClr>
          </a:solidFill>
          <a:ln cap="rnd" cmpd="sng" w="44450">
            <a:solidFill>
              <a:schemeClr val="accent2">
                <a:alpha val="74117"/>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253" name="Google Shape;253;g2d75afc7928_0_76"/>
          <p:cNvSpPr txBox="1"/>
          <p:nvPr>
            <p:ph idx="1" type="body"/>
          </p:nvPr>
        </p:nvSpPr>
        <p:spPr>
          <a:xfrm>
            <a:off x="572500" y="2071300"/>
            <a:ext cx="10922400" cy="4119300"/>
          </a:xfrm>
          <a:prstGeom prst="rect">
            <a:avLst/>
          </a:prstGeom>
          <a:noFill/>
          <a:ln>
            <a:noFill/>
          </a:ln>
        </p:spPr>
        <p:txBody>
          <a:bodyPr anchorCtr="0" anchor="t" bIns="45700" lIns="91425" spcFirstLastPara="1" rIns="91425" wrap="square" tIns="45700">
            <a:normAutofit fontScale="62500" lnSpcReduction="10000"/>
          </a:bodyPr>
          <a:lstStyle/>
          <a:p>
            <a:pPr indent="0" lvl="0" marL="0" rtl="0" algn="l">
              <a:lnSpc>
                <a:spcPct val="115000"/>
              </a:lnSpc>
              <a:spcBef>
                <a:spcPts val="800"/>
              </a:spcBef>
              <a:spcAft>
                <a:spcPts val="0"/>
              </a:spcAft>
              <a:buSzPct val="34375"/>
              <a:buNone/>
            </a:pPr>
            <a:r>
              <a:rPr lang="en-US" sz="3200"/>
              <a:t>Thank you for joining us on this exciting journey! Code Crunch is redefining tech education and fostering inclusivity in technology. Let’s collaborate, innovate, and create a brighter future together.</a:t>
            </a:r>
            <a:endParaRPr sz="3200"/>
          </a:p>
          <a:p>
            <a:pPr indent="0" lvl="0" marL="0" rtl="0" algn="l">
              <a:lnSpc>
                <a:spcPct val="115000"/>
              </a:lnSpc>
              <a:spcBef>
                <a:spcPts val="800"/>
              </a:spcBef>
              <a:spcAft>
                <a:spcPts val="0"/>
              </a:spcAft>
              <a:buSzPct val="34375"/>
              <a:buNone/>
            </a:pPr>
            <a:r>
              <a:t/>
            </a:r>
            <a:endParaRPr sz="3200"/>
          </a:p>
          <a:p>
            <a:pPr indent="0" lvl="0" marL="0" rtl="0" algn="l">
              <a:lnSpc>
                <a:spcPct val="115000"/>
              </a:lnSpc>
              <a:spcBef>
                <a:spcPts val="800"/>
              </a:spcBef>
              <a:spcAft>
                <a:spcPts val="0"/>
              </a:spcAft>
              <a:buSzPct val="34375"/>
              <a:buNone/>
            </a:pPr>
            <a:r>
              <a:rPr lang="en-US" sz="3200"/>
              <a:t>RSVP for sessions today. Follow us on social media. Spread the word about Code Crunch!</a:t>
            </a:r>
            <a:endParaRPr sz="3200"/>
          </a:p>
          <a:p>
            <a:pPr indent="0" lvl="0" marL="0" rtl="0" algn="l">
              <a:lnSpc>
                <a:spcPct val="115000"/>
              </a:lnSpc>
              <a:spcBef>
                <a:spcPts val="800"/>
              </a:spcBef>
              <a:spcAft>
                <a:spcPts val="0"/>
              </a:spcAft>
              <a:buSzPct val="34375"/>
              <a:buNone/>
            </a:pPr>
            <a:r>
              <a:t/>
            </a:r>
            <a:endParaRPr sz="3200"/>
          </a:p>
          <a:p>
            <a:pPr indent="0" lvl="0" marL="0" rtl="0" algn="l">
              <a:lnSpc>
                <a:spcPct val="115000"/>
              </a:lnSpc>
              <a:spcBef>
                <a:spcPts val="800"/>
              </a:spcBef>
              <a:spcAft>
                <a:spcPts val="0"/>
              </a:spcAft>
              <a:buSzPct val="34375"/>
              <a:buNone/>
            </a:pPr>
            <a:r>
              <a:rPr lang="en-US" sz="3200"/>
              <a:t>#CodeCrunch #CodeCrunchFIU #DiversityInTech #InclusiveTech #LeadershipOpportunities #FIUTechCommunity #WomenInSTEM #LGBTQInTech #LatinxInTech #BlackInTech #AAPIsInTech #TechLeadership #JoinOurTeam #FIUInnovation #TechForEveryone #EmpowerTech #FutureLeaders #HackerCulture #CodeYourFuture #TechDiversity #FIUPanthers #STEMOpportunities #BuildYourFuture #LeadWithCode #PanthersInTech</a:t>
            </a:r>
            <a:r>
              <a:rPr lang="en-US"/>
              <a:t> </a:t>
            </a:r>
            <a:endParaRPr/>
          </a:p>
        </p:txBody>
      </p:sp>
      <p:pic>
        <p:nvPicPr>
          <p:cNvPr id="254" name="Google Shape;254;g2d75afc7928_0_76"/>
          <p:cNvPicPr preferRelativeResize="0"/>
          <p:nvPr/>
        </p:nvPicPr>
        <p:blipFill rotWithShape="1">
          <a:blip r:embed="rId3">
            <a:alphaModFix/>
          </a:blip>
          <a:srcRect b="0" l="0" r="0" t="0"/>
          <a:stretch/>
        </p:blipFill>
        <p:spPr>
          <a:xfrm>
            <a:off x="10173375" y="0"/>
            <a:ext cx="2015925" cy="20159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8" name="Shape 258"/>
        <p:cNvGrpSpPr/>
        <p:nvPr/>
      </p:nvGrpSpPr>
      <p:grpSpPr>
        <a:xfrm>
          <a:off x="0" y="0"/>
          <a:ext cx="0" cy="0"/>
          <a:chOff x="0" y="0"/>
          <a:chExt cx="0" cy="0"/>
        </a:xfrm>
      </p:grpSpPr>
      <p:sp>
        <p:nvSpPr>
          <p:cNvPr id="259" name="Google Shape;259;g2d5b2b5e3c8_0_148"/>
          <p:cNvSpPr/>
          <p:nvPr/>
        </p:nvSpPr>
        <p:spPr>
          <a:xfrm>
            <a:off x="0" y="0"/>
            <a:ext cx="121893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260" name="Google Shape;260;g2d5b2b5e3c8_0_148"/>
          <p:cNvSpPr txBox="1"/>
          <p:nvPr>
            <p:ph idx="4294967295" type="title"/>
          </p:nvPr>
        </p:nvSpPr>
        <p:spPr>
          <a:xfrm>
            <a:off x="4024800" y="2567800"/>
            <a:ext cx="4142400" cy="8613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500"/>
              <a:buFont typeface="Play"/>
              <a:buNone/>
            </a:pPr>
            <a:r>
              <a:rPr lang="en-US" sz="5500"/>
              <a:t>Q&amp;A Session</a:t>
            </a:r>
            <a:endParaRPr/>
          </a:p>
        </p:txBody>
      </p:sp>
      <p:pic>
        <p:nvPicPr>
          <p:cNvPr id="261" name="Google Shape;261;g2d5b2b5e3c8_0_148"/>
          <p:cNvPicPr preferRelativeResize="0"/>
          <p:nvPr/>
        </p:nvPicPr>
        <p:blipFill rotWithShape="1">
          <a:blip r:embed="rId3">
            <a:alphaModFix/>
          </a:blip>
          <a:srcRect b="0" l="0" r="0" t="0"/>
          <a:stretch/>
        </p:blipFill>
        <p:spPr>
          <a:xfrm>
            <a:off x="10173375" y="0"/>
            <a:ext cx="2015925" cy="20159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6" name="Shape 266"/>
        <p:cNvGrpSpPr/>
        <p:nvPr/>
      </p:nvGrpSpPr>
      <p:grpSpPr>
        <a:xfrm>
          <a:off x="0" y="0"/>
          <a:ext cx="0" cy="0"/>
          <a:chOff x="0" y="0"/>
          <a:chExt cx="0" cy="0"/>
        </a:xfrm>
      </p:grpSpPr>
      <p:sp>
        <p:nvSpPr>
          <p:cNvPr id="267" name="Google Shape;267;g32248793e7f_0_0"/>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268" name="Google Shape;268;g32248793e7f_0_0"/>
          <p:cNvSpPr/>
          <p:nvPr/>
        </p:nvSpPr>
        <p:spPr>
          <a:xfrm>
            <a:off x="0" y="0"/>
            <a:ext cx="4890900" cy="6858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269" name="Google Shape;269;g32248793e7f_0_0"/>
          <p:cNvSpPr txBox="1"/>
          <p:nvPr>
            <p:ph type="title"/>
          </p:nvPr>
        </p:nvSpPr>
        <p:spPr>
          <a:xfrm>
            <a:off x="840150" y="3367775"/>
            <a:ext cx="3200400" cy="1154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Play"/>
              <a:buNone/>
            </a:pPr>
            <a:r>
              <a:rPr lang="en-US">
                <a:solidFill>
                  <a:schemeClr val="lt1"/>
                </a:solidFill>
              </a:rPr>
              <a:t>Attendance</a:t>
            </a:r>
            <a:endParaRPr>
              <a:solidFill>
                <a:schemeClr val="lt1"/>
              </a:solidFill>
            </a:endParaRPr>
          </a:p>
        </p:txBody>
      </p:sp>
      <p:grpSp>
        <p:nvGrpSpPr>
          <p:cNvPr id="270" name="Google Shape;270;g32248793e7f_0_0"/>
          <p:cNvGrpSpPr/>
          <p:nvPr/>
        </p:nvGrpSpPr>
        <p:grpSpPr>
          <a:xfrm>
            <a:off x="75" y="202996"/>
            <a:ext cx="1910317" cy="709685"/>
            <a:chOff x="2267504" y="2540250"/>
            <a:chExt cx="1990951" cy="739640"/>
          </a:xfrm>
        </p:grpSpPr>
        <p:sp>
          <p:nvSpPr>
            <p:cNvPr id="271" name="Google Shape;271;g32248793e7f_0_0"/>
            <p:cNvSpPr/>
            <p:nvPr/>
          </p:nvSpPr>
          <p:spPr>
            <a:xfrm>
              <a:off x="2267504" y="254025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Arial"/>
                <a:ea typeface="Arial"/>
                <a:cs typeface="Arial"/>
                <a:sym typeface="Arial"/>
              </a:endParaRPr>
            </a:p>
          </p:txBody>
        </p:sp>
        <p:sp>
          <p:nvSpPr>
            <p:cNvPr id="272" name="Google Shape;272;g32248793e7f_0_0"/>
            <p:cNvSpPr/>
            <p:nvPr/>
          </p:nvSpPr>
          <p:spPr>
            <a:xfrm>
              <a:off x="2267504" y="299366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Arial"/>
                <a:ea typeface="Arial"/>
                <a:cs typeface="Arial"/>
                <a:sym typeface="Arial"/>
              </a:endParaRPr>
            </a:p>
          </p:txBody>
        </p:sp>
      </p:grpSp>
      <p:sp>
        <p:nvSpPr>
          <p:cNvPr id="273" name="Google Shape;273;g32248793e7f_0_0"/>
          <p:cNvSpPr/>
          <p:nvPr/>
        </p:nvSpPr>
        <p:spPr>
          <a:xfrm>
            <a:off x="406260" y="4752208"/>
            <a:ext cx="365100" cy="365100"/>
          </a:xfrm>
          <a:prstGeom prst="ellipse">
            <a:avLst/>
          </a:prstGeom>
          <a:solidFill>
            <a:srgbClr val="FFFFFF"/>
          </a:solidFill>
          <a:ln cap="flat" cmpd="sng" w="2857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274" name="Google Shape;274;g32248793e7f_0_0"/>
          <p:cNvSpPr/>
          <p:nvPr/>
        </p:nvSpPr>
        <p:spPr>
          <a:xfrm>
            <a:off x="406260" y="4752208"/>
            <a:ext cx="365100" cy="365100"/>
          </a:xfrm>
          <a:prstGeom prst="ellipse">
            <a:avLst/>
          </a:prstGeom>
          <a:solidFill>
            <a:schemeClr val="accent6">
              <a:alpha val="29019"/>
            </a:schemeClr>
          </a:solidFill>
          <a:ln cap="flat" cmpd="sng" w="2857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grpSp>
        <p:nvGrpSpPr>
          <p:cNvPr id="275" name="Google Shape;275;g32248793e7f_0_0"/>
          <p:cNvGrpSpPr/>
          <p:nvPr/>
        </p:nvGrpSpPr>
        <p:grpSpPr>
          <a:xfrm>
            <a:off x="4109417" y="5539799"/>
            <a:ext cx="975146" cy="975148"/>
            <a:chOff x="5829300" y="3162300"/>
            <a:chExt cx="532256" cy="532257"/>
          </a:xfrm>
        </p:grpSpPr>
        <p:sp>
          <p:nvSpPr>
            <p:cNvPr id="276" name="Google Shape;276;g32248793e7f_0_0"/>
            <p:cNvSpPr/>
            <p:nvPr/>
          </p:nvSpPr>
          <p:spPr>
            <a:xfrm>
              <a:off x="5859208" y="3192208"/>
              <a:ext cx="112966" cy="112966"/>
            </a:xfrm>
            <a:custGeom>
              <a:rect b="b" l="l" r="r" t="t"/>
              <a:pathLst>
                <a:path extrusionOk="0" h="112966" w="112966">
                  <a:moveTo>
                    <a:pt x="112967" y="0"/>
                  </a:moveTo>
                  <a:lnTo>
                    <a:pt x="0" y="112967"/>
                  </a:lnTo>
                  <a:cubicBezTo>
                    <a:pt x="25356" y="64747"/>
                    <a:pt x="64747" y="25356"/>
                    <a:pt x="112967"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Arial"/>
                <a:ea typeface="Arial"/>
                <a:cs typeface="Arial"/>
                <a:sym typeface="Arial"/>
              </a:endParaRPr>
            </a:p>
          </p:txBody>
        </p:sp>
        <p:sp>
          <p:nvSpPr>
            <p:cNvPr id="277" name="Google Shape;277;g32248793e7f_0_0"/>
            <p:cNvSpPr/>
            <p:nvPr/>
          </p:nvSpPr>
          <p:spPr>
            <a:xfrm>
              <a:off x="5831205" y="3164205"/>
              <a:ext cx="230314" cy="230314"/>
            </a:xfrm>
            <a:custGeom>
              <a:rect b="b" l="l" r="r" t="t"/>
              <a:pathLst>
                <a:path extrusionOk="0" h="230314" w="230314">
                  <a:moveTo>
                    <a:pt x="230314" y="0"/>
                  </a:moveTo>
                  <a:lnTo>
                    <a:pt x="0" y="230314"/>
                  </a:lnTo>
                  <a:cubicBezTo>
                    <a:pt x="953" y="223361"/>
                    <a:pt x="2095" y="216408"/>
                    <a:pt x="3524" y="209550"/>
                  </a:cubicBezTo>
                  <a:lnTo>
                    <a:pt x="209550" y="3524"/>
                  </a:lnTo>
                  <a:cubicBezTo>
                    <a:pt x="216408" y="2095"/>
                    <a:pt x="223361" y="953"/>
                    <a:pt x="230314"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Arial"/>
                <a:ea typeface="Arial"/>
                <a:cs typeface="Arial"/>
                <a:sym typeface="Arial"/>
              </a:endParaRPr>
            </a:p>
          </p:txBody>
        </p:sp>
        <p:sp>
          <p:nvSpPr>
            <p:cNvPr id="278" name="Google Shape;278;g32248793e7f_0_0"/>
            <p:cNvSpPr/>
            <p:nvPr/>
          </p:nvSpPr>
          <p:spPr>
            <a:xfrm>
              <a:off x="5829300" y="3162300"/>
              <a:ext cx="294131" cy="294131"/>
            </a:xfrm>
            <a:custGeom>
              <a:rect b="b" l="l" r="r" t="t"/>
              <a:pathLst>
                <a:path extrusionOk="0" h="294131" w="294131">
                  <a:moveTo>
                    <a:pt x="294132" y="1238"/>
                  </a:moveTo>
                  <a:lnTo>
                    <a:pt x="1238" y="294132"/>
                  </a:lnTo>
                  <a:cubicBezTo>
                    <a:pt x="667" y="288893"/>
                    <a:pt x="0" y="283559"/>
                    <a:pt x="0" y="278225"/>
                  </a:cubicBezTo>
                  <a:lnTo>
                    <a:pt x="278225" y="0"/>
                  </a:lnTo>
                  <a:cubicBezTo>
                    <a:pt x="283559" y="0"/>
                    <a:pt x="288893" y="667"/>
                    <a:pt x="294132" y="123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Arial"/>
                <a:ea typeface="Arial"/>
                <a:cs typeface="Arial"/>
                <a:sym typeface="Arial"/>
              </a:endParaRPr>
            </a:p>
          </p:txBody>
        </p:sp>
        <p:sp>
          <p:nvSpPr>
            <p:cNvPr id="279" name="Google Shape;279;g32248793e7f_0_0"/>
            <p:cNvSpPr/>
            <p:nvPr/>
          </p:nvSpPr>
          <p:spPr>
            <a:xfrm>
              <a:off x="5837205" y="3170110"/>
              <a:ext cx="337184" cy="337280"/>
            </a:xfrm>
            <a:custGeom>
              <a:rect b="b" l="l" r="r" t="t"/>
              <a:pathLst>
                <a:path extrusionOk="0" h="337280" w="337184">
                  <a:moveTo>
                    <a:pt x="337185" y="3905"/>
                  </a:moveTo>
                  <a:lnTo>
                    <a:pt x="3810" y="337280"/>
                  </a:lnTo>
                  <a:cubicBezTo>
                    <a:pt x="2381" y="332899"/>
                    <a:pt x="1143" y="328422"/>
                    <a:pt x="0" y="323850"/>
                  </a:cubicBezTo>
                  <a:lnTo>
                    <a:pt x="323850" y="0"/>
                  </a:lnTo>
                  <a:cubicBezTo>
                    <a:pt x="328327" y="1715"/>
                    <a:pt x="332804" y="2477"/>
                    <a:pt x="337185" y="390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Arial"/>
                <a:ea typeface="Arial"/>
                <a:cs typeface="Arial"/>
                <a:sym typeface="Arial"/>
              </a:endParaRPr>
            </a:p>
          </p:txBody>
        </p:sp>
        <p:sp>
          <p:nvSpPr>
            <p:cNvPr id="280" name="Google Shape;280;g32248793e7f_0_0"/>
            <p:cNvSpPr/>
            <p:nvPr/>
          </p:nvSpPr>
          <p:spPr>
            <a:xfrm>
              <a:off x="5853207" y="3186207"/>
              <a:ext cx="364617" cy="364617"/>
            </a:xfrm>
            <a:custGeom>
              <a:rect b="b" l="l" r="r" t="t"/>
              <a:pathLst>
                <a:path extrusionOk="0" h="364617" w="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Arial"/>
                <a:ea typeface="Arial"/>
                <a:cs typeface="Arial"/>
                <a:sym typeface="Arial"/>
              </a:endParaRPr>
            </a:p>
          </p:txBody>
        </p:sp>
        <p:sp>
          <p:nvSpPr>
            <p:cNvPr id="281" name="Google Shape;281;g32248793e7f_0_0"/>
            <p:cNvSpPr/>
            <p:nvPr/>
          </p:nvSpPr>
          <p:spPr>
            <a:xfrm>
              <a:off x="5875305" y="3208305"/>
              <a:ext cx="380238" cy="380238"/>
            </a:xfrm>
            <a:custGeom>
              <a:rect b="b" l="l" r="r" t="t"/>
              <a:pathLst>
                <a:path extrusionOk="0" h="380238" w="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Arial"/>
                <a:ea typeface="Arial"/>
                <a:cs typeface="Arial"/>
                <a:sym typeface="Arial"/>
              </a:endParaRPr>
            </a:p>
          </p:txBody>
        </p:sp>
        <p:sp>
          <p:nvSpPr>
            <p:cNvPr id="282" name="Google Shape;282;g32248793e7f_0_0"/>
            <p:cNvSpPr/>
            <p:nvPr/>
          </p:nvSpPr>
          <p:spPr>
            <a:xfrm>
              <a:off x="5902832" y="3235832"/>
              <a:ext cx="385191" cy="385191"/>
            </a:xfrm>
            <a:custGeom>
              <a:rect b="b" l="l" r="r" t="t"/>
              <a:pathLst>
                <a:path extrusionOk="0" h="385191" w="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Arial"/>
                <a:ea typeface="Arial"/>
                <a:cs typeface="Arial"/>
                <a:sym typeface="Arial"/>
              </a:endParaRPr>
            </a:p>
          </p:txBody>
        </p:sp>
        <p:sp>
          <p:nvSpPr>
            <p:cNvPr id="283" name="Google Shape;283;g32248793e7f_0_0"/>
            <p:cNvSpPr/>
            <p:nvPr/>
          </p:nvSpPr>
          <p:spPr>
            <a:xfrm>
              <a:off x="5935789" y="3268313"/>
              <a:ext cx="379761" cy="380237"/>
            </a:xfrm>
            <a:custGeom>
              <a:rect b="b" l="l" r="r" t="t"/>
              <a:pathLst>
                <a:path extrusionOk="0" h="380237" w="379761">
                  <a:moveTo>
                    <a:pt x="372428" y="0"/>
                  </a:moveTo>
                  <a:cubicBezTo>
                    <a:pt x="374999" y="3239"/>
                    <a:pt x="377381" y="6572"/>
                    <a:pt x="379762" y="9525"/>
                  </a:cubicBezTo>
                  <a:lnTo>
                    <a:pt x="9525" y="380238"/>
                  </a:lnTo>
                  <a:cubicBezTo>
                    <a:pt x="6096" y="377857"/>
                    <a:pt x="2762" y="375476"/>
                    <a:pt x="0" y="37290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Arial"/>
                <a:ea typeface="Arial"/>
                <a:cs typeface="Arial"/>
                <a:sym typeface="Arial"/>
              </a:endParaRPr>
            </a:p>
          </p:txBody>
        </p:sp>
        <p:sp>
          <p:nvSpPr>
            <p:cNvPr id="284" name="Google Shape;284;g32248793e7f_0_0"/>
            <p:cNvSpPr/>
            <p:nvPr/>
          </p:nvSpPr>
          <p:spPr>
            <a:xfrm>
              <a:off x="5972841" y="3305841"/>
              <a:ext cx="364807" cy="364807"/>
            </a:xfrm>
            <a:custGeom>
              <a:rect b="b" l="l" r="r" t="t"/>
              <a:pathLst>
                <a:path extrusionOk="0" h="364807" w="364807">
                  <a:moveTo>
                    <a:pt x="359188" y="0"/>
                  </a:moveTo>
                  <a:cubicBezTo>
                    <a:pt x="361188" y="3905"/>
                    <a:pt x="362998" y="7715"/>
                    <a:pt x="364808" y="11621"/>
                  </a:cubicBezTo>
                  <a:lnTo>
                    <a:pt x="11621" y="364808"/>
                  </a:lnTo>
                  <a:cubicBezTo>
                    <a:pt x="7715" y="362998"/>
                    <a:pt x="3905" y="361188"/>
                    <a:pt x="0" y="35918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Arial"/>
                <a:ea typeface="Arial"/>
                <a:cs typeface="Arial"/>
                <a:sym typeface="Arial"/>
              </a:endParaRPr>
            </a:p>
          </p:txBody>
        </p:sp>
        <p:sp>
          <p:nvSpPr>
            <p:cNvPr id="285" name="Google Shape;285;g32248793e7f_0_0"/>
            <p:cNvSpPr/>
            <p:nvPr/>
          </p:nvSpPr>
          <p:spPr>
            <a:xfrm>
              <a:off x="6016370" y="3349466"/>
              <a:ext cx="337280" cy="337280"/>
            </a:xfrm>
            <a:custGeom>
              <a:rect b="b" l="l" r="r" t="t"/>
              <a:pathLst>
                <a:path extrusionOk="0" h="337280" w="337280">
                  <a:moveTo>
                    <a:pt x="333470" y="0"/>
                  </a:moveTo>
                  <a:cubicBezTo>
                    <a:pt x="334899" y="4382"/>
                    <a:pt x="336137" y="8858"/>
                    <a:pt x="337280" y="13430"/>
                  </a:cubicBezTo>
                  <a:lnTo>
                    <a:pt x="13430" y="337280"/>
                  </a:lnTo>
                  <a:cubicBezTo>
                    <a:pt x="8858" y="336137"/>
                    <a:pt x="4382" y="334899"/>
                    <a:pt x="0" y="33347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Arial"/>
                <a:ea typeface="Arial"/>
                <a:cs typeface="Arial"/>
                <a:sym typeface="Arial"/>
              </a:endParaRPr>
            </a:p>
          </p:txBody>
        </p:sp>
        <p:sp>
          <p:nvSpPr>
            <p:cNvPr id="286" name="Google Shape;286;g32248793e7f_0_0"/>
            <p:cNvSpPr/>
            <p:nvPr/>
          </p:nvSpPr>
          <p:spPr>
            <a:xfrm>
              <a:off x="6067329" y="3400425"/>
              <a:ext cx="294227" cy="294132"/>
            </a:xfrm>
            <a:custGeom>
              <a:rect b="b" l="l" r="r" t="t"/>
              <a:pathLst>
                <a:path extrusionOk="0" h="294132" w="294227">
                  <a:moveTo>
                    <a:pt x="292989" y="0"/>
                  </a:moveTo>
                  <a:cubicBezTo>
                    <a:pt x="293561" y="5334"/>
                    <a:pt x="293942" y="10668"/>
                    <a:pt x="294227" y="15907"/>
                  </a:cubicBezTo>
                  <a:lnTo>
                    <a:pt x="15907" y="294132"/>
                  </a:lnTo>
                  <a:cubicBezTo>
                    <a:pt x="10668" y="294132"/>
                    <a:pt x="5334" y="293465"/>
                    <a:pt x="0" y="29289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Arial"/>
                <a:ea typeface="Arial"/>
                <a:cs typeface="Arial"/>
                <a:sym typeface="Arial"/>
              </a:endParaRPr>
            </a:p>
          </p:txBody>
        </p:sp>
        <p:sp>
          <p:nvSpPr>
            <p:cNvPr id="287" name="Google Shape;287;g32248793e7f_0_0"/>
            <p:cNvSpPr/>
            <p:nvPr/>
          </p:nvSpPr>
          <p:spPr>
            <a:xfrm>
              <a:off x="6129337" y="3462337"/>
              <a:ext cx="230314" cy="230314"/>
            </a:xfrm>
            <a:custGeom>
              <a:rect b="b" l="l" r="r" t="t"/>
              <a:pathLst>
                <a:path extrusionOk="0" h="230314" w="230314">
                  <a:moveTo>
                    <a:pt x="230315" y="0"/>
                  </a:moveTo>
                  <a:cubicBezTo>
                    <a:pt x="229457" y="6953"/>
                    <a:pt x="228314" y="13716"/>
                    <a:pt x="226886" y="20574"/>
                  </a:cubicBezTo>
                  <a:lnTo>
                    <a:pt x="20669" y="226790"/>
                  </a:lnTo>
                  <a:cubicBezTo>
                    <a:pt x="13811" y="228314"/>
                    <a:pt x="6953" y="229457"/>
                    <a:pt x="0" y="23031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Arial"/>
                <a:ea typeface="Arial"/>
                <a:cs typeface="Arial"/>
                <a:sym typeface="Arial"/>
              </a:endParaRPr>
            </a:p>
          </p:txBody>
        </p:sp>
        <p:sp>
          <p:nvSpPr>
            <p:cNvPr id="288" name="Google Shape;288;g32248793e7f_0_0"/>
            <p:cNvSpPr/>
            <p:nvPr/>
          </p:nvSpPr>
          <p:spPr>
            <a:xfrm>
              <a:off x="6218682" y="3551682"/>
              <a:ext cx="112871" cy="112871"/>
            </a:xfrm>
            <a:custGeom>
              <a:rect b="b" l="l" r="r" t="t"/>
              <a:pathLst>
                <a:path extrusionOk="0" h="112871" w="112871">
                  <a:moveTo>
                    <a:pt x="112871" y="0"/>
                  </a:moveTo>
                  <a:cubicBezTo>
                    <a:pt x="87618" y="48239"/>
                    <a:pt x="48239" y="87618"/>
                    <a:pt x="0" y="11287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Arial"/>
                <a:ea typeface="Arial"/>
                <a:cs typeface="Arial"/>
                <a:sym typeface="Arial"/>
              </a:endParaRPr>
            </a:p>
          </p:txBody>
        </p:sp>
      </p:grpSp>
      <p:grpSp>
        <p:nvGrpSpPr>
          <p:cNvPr id="289" name="Google Shape;289;g32248793e7f_0_0"/>
          <p:cNvGrpSpPr/>
          <p:nvPr/>
        </p:nvGrpSpPr>
        <p:grpSpPr>
          <a:xfrm>
            <a:off x="5410645" y="488575"/>
            <a:ext cx="6448735" cy="5856740"/>
            <a:chOff x="-73494" y="11035"/>
            <a:chExt cx="6448735" cy="5856740"/>
          </a:xfrm>
        </p:grpSpPr>
        <p:sp>
          <p:nvSpPr>
            <p:cNvPr id="290" name="Google Shape;290;g32248793e7f_0_0"/>
            <p:cNvSpPr/>
            <p:nvPr/>
          </p:nvSpPr>
          <p:spPr>
            <a:xfrm>
              <a:off x="-73494" y="11035"/>
              <a:ext cx="6301500" cy="12330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g32248793e7f_0_0"/>
            <p:cNvSpPr/>
            <p:nvPr/>
          </p:nvSpPr>
          <p:spPr>
            <a:xfrm>
              <a:off x="299486" y="288460"/>
              <a:ext cx="678000" cy="678000"/>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g32248793e7f_0_0"/>
            <p:cNvSpPr/>
            <p:nvPr/>
          </p:nvSpPr>
          <p:spPr>
            <a:xfrm>
              <a:off x="1350617" y="11035"/>
              <a:ext cx="4874700" cy="1233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g32248793e7f_0_0"/>
            <p:cNvSpPr txBox="1"/>
            <p:nvPr/>
          </p:nvSpPr>
          <p:spPr>
            <a:xfrm>
              <a:off x="1350617" y="11035"/>
              <a:ext cx="4874700" cy="1233000"/>
            </a:xfrm>
            <a:prstGeom prst="rect">
              <a:avLst/>
            </a:prstGeom>
            <a:noFill/>
            <a:ln>
              <a:noFill/>
            </a:ln>
          </p:spPr>
          <p:txBody>
            <a:bodyPr anchorCtr="0" anchor="ctr" bIns="130475" lIns="130475" spcFirstLastPara="1" rIns="130475" wrap="square" tIns="130475">
              <a:no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Join us for the upcoming weekly sessions this Spring 2025!</a:t>
              </a:r>
              <a:endParaRPr b="0" i="0" sz="2400" u="none" cap="none" strike="noStrike">
                <a:solidFill>
                  <a:schemeClr val="dk1"/>
                </a:solidFill>
                <a:latin typeface="Arial"/>
                <a:ea typeface="Arial"/>
                <a:cs typeface="Arial"/>
                <a:sym typeface="Arial"/>
              </a:endParaRPr>
            </a:p>
          </p:txBody>
        </p:sp>
        <p:sp>
          <p:nvSpPr>
            <p:cNvPr id="294" name="Google Shape;294;g32248793e7f_0_0"/>
            <p:cNvSpPr/>
            <p:nvPr/>
          </p:nvSpPr>
          <p:spPr>
            <a:xfrm>
              <a:off x="-73494" y="1552282"/>
              <a:ext cx="6301500" cy="12330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g32248793e7f_0_0"/>
            <p:cNvSpPr/>
            <p:nvPr/>
          </p:nvSpPr>
          <p:spPr>
            <a:xfrm>
              <a:off x="299486" y="1829706"/>
              <a:ext cx="678000" cy="678000"/>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g32248793e7f_0_0"/>
            <p:cNvSpPr/>
            <p:nvPr/>
          </p:nvSpPr>
          <p:spPr>
            <a:xfrm>
              <a:off x="1350617" y="1552282"/>
              <a:ext cx="4874700" cy="1233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g32248793e7f_0_0"/>
            <p:cNvSpPr txBox="1"/>
            <p:nvPr/>
          </p:nvSpPr>
          <p:spPr>
            <a:xfrm>
              <a:off x="1350617" y="1552282"/>
              <a:ext cx="4874700" cy="1233000"/>
            </a:xfrm>
            <a:prstGeom prst="rect">
              <a:avLst/>
            </a:prstGeom>
            <a:noFill/>
            <a:ln>
              <a:noFill/>
            </a:ln>
          </p:spPr>
          <p:txBody>
            <a:bodyPr anchorCtr="0" anchor="ctr" bIns="130475" lIns="130475" spcFirstLastPara="1" rIns="130475" wrap="square" tIns="130475">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Monday: </a:t>
              </a:r>
              <a:r>
                <a:rPr b="0" i="0" lang="en-US" sz="1600" u="none" cap="none" strike="noStrike">
                  <a:solidFill>
                    <a:schemeClr val="dk1"/>
                  </a:solidFill>
                  <a:latin typeface="Arial"/>
                  <a:ea typeface="Arial"/>
                  <a:cs typeface="Arial"/>
                  <a:sym typeface="Arial"/>
                </a:rPr>
                <a:t>1PM &amp; 2PM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Tuesdays: </a:t>
              </a:r>
              <a:r>
                <a:rPr b="0" i="0" lang="en-US" sz="1600" u="none" cap="none" strike="noStrike">
                  <a:solidFill>
                    <a:schemeClr val="dk1"/>
                  </a:solidFill>
                  <a:latin typeface="Arial"/>
                  <a:ea typeface="Arial"/>
                  <a:cs typeface="Arial"/>
                  <a:sym typeface="Arial"/>
                </a:rPr>
                <a:t>1PM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Wednesdays: </a:t>
              </a:r>
              <a:r>
                <a:rPr b="0" i="0" lang="en-US" sz="1600" u="none" cap="none" strike="noStrike">
                  <a:solidFill>
                    <a:schemeClr val="dk1"/>
                  </a:solidFill>
                  <a:latin typeface="Arial"/>
                  <a:ea typeface="Arial"/>
                  <a:cs typeface="Arial"/>
                  <a:sym typeface="Arial"/>
                </a:rPr>
                <a:t>2PM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Thursdays: </a:t>
              </a:r>
              <a:r>
                <a:rPr b="0" i="0" lang="en-US" sz="1600" u="none" cap="none" strike="noStrike">
                  <a:solidFill>
                    <a:schemeClr val="dk1"/>
                  </a:solidFill>
                  <a:latin typeface="Arial"/>
                  <a:ea typeface="Arial"/>
                  <a:cs typeface="Arial"/>
                  <a:sym typeface="Arial"/>
                </a:rPr>
                <a:t>1PM , 2PM &amp; 3PM </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Friday: </a:t>
              </a:r>
              <a:r>
                <a:rPr b="0" i="0" lang="en-US" sz="1600" u="none" cap="none" strike="noStrike">
                  <a:solidFill>
                    <a:schemeClr val="dk1"/>
                  </a:solidFill>
                  <a:latin typeface="Arial"/>
                  <a:ea typeface="Arial"/>
                  <a:cs typeface="Arial"/>
                  <a:sym typeface="Arial"/>
                </a:rPr>
                <a:t>2PM &amp; 3PM </a:t>
              </a:r>
              <a:endParaRPr b="0" i="0" sz="1500" u="none" cap="none" strike="noStrike">
                <a:solidFill>
                  <a:srgbClr val="000000"/>
                </a:solidFill>
                <a:latin typeface="Arial"/>
                <a:ea typeface="Arial"/>
                <a:cs typeface="Arial"/>
                <a:sym typeface="Arial"/>
              </a:endParaRPr>
            </a:p>
          </p:txBody>
        </p:sp>
        <p:sp>
          <p:nvSpPr>
            <p:cNvPr id="298" name="Google Shape;298;g32248793e7f_0_0"/>
            <p:cNvSpPr/>
            <p:nvPr/>
          </p:nvSpPr>
          <p:spPr>
            <a:xfrm>
              <a:off x="-73494" y="3093529"/>
              <a:ext cx="6301500" cy="12330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g32248793e7f_0_0"/>
            <p:cNvSpPr/>
            <p:nvPr/>
          </p:nvSpPr>
          <p:spPr>
            <a:xfrm>
              <a:off x="299486" y="3370953"/>
              <a:ext cx="678000" cy="678000"/>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g32248793e7f_0_0"/>
            <p:cNvSpPr/>
            <p:nvPr/>
          </p:nvSpPr>
          <p:spPr>
            <a:xfrm>
              <a:off x="1350617" y="3093529"/>
              <a:ext cx="4874700" cy="1233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g32248793e7f_0_0"/>
            <p:cNvSpPr txBox="1"/>
            <p:nvPr/>
          </p:nvSpPr>
          <p:spPr>
            <a:xfrm>
              <a:off x="1350617" y="3093529"/>
              <a:ext cx="4874700" cy="1233000"/>
            </a:xfrm>
            <a:prstGeom prst="rect">
              <a:avLst/>
            </a:prstGeom>
            <a:noFill/>
            <a:ln>
              <a:noFill/>
            </a:ln>
          </p:spPr>
          <p:txBody>
            <a:bodyPr anchorCtr="0" anchor="ctr" bIns="130475" lIns="130475" spcFirstLastPara="1" rIns="130475" wrap="square" tIns="130475">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RSVP </a:t>
              </a:r>
              <a:r>
                <a:rPr b="0" i="0" lang="en-US" sz="2500" u="none" cap="none" strike="noStrike">
                  <a:solidFill>
                    <a:schemeClr val="dk1"/>
                  </a:solidFill>
                  <a:latin typeface="Arial"/>
                  <a:ea typeface="Arial"/>
                  <a:cs typeface="Arial"/>
                  <a:sym typeface="Arial"/>
                </a:rPr>
                <a:t>LU.MA/CODECRUNCH</a:t>
              </a:r>
              <a:endParaRPr b="0" i="0" sz="1200" u="none" cap="none" strike="noStrike">
                <a:solidFill>
                  <a:srgbClr val="000000"/>
                </a:solidFill>
                <a:latin typeface="Arial"/>
                <a:ea typeface="Arial"/>
                <a:cs typeface="Arial"/>
                <a:sym typeface="Arial"/>
              </a:endParaRPr>
            </a:p>
          </p:txBody>
        </p:sp>
        <p:sp>
          <p:nvSpPr>
            <p:cNvPr id="302" name="Google Shape;302;g32248793e7f_0_0"/>
            <p:cNvSpPr/>
            <p:nvPr/>
          </p:nvSpPr>
          <p:spPr>
            <a:xfrm>
              <a:off x="-73494" y="4634775"/>
              <a:ext cx="6301500" cy="12330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g32248793e7f_0_0"/>
            <p:cNvSpPr/>
            <p:nvPr/>
          </p:nvSpPr>
          <p:spPr>
            <a:xfrm>
              <a:off x="299486" y="4912200"/>
              <a:ext cx="678000" cy="678000"/>
            </a:xfrm>
            <a:prstGeom prst="rect">
              <a:avLst/>
            </a:prstGeom>
            <a:blipFill rotWithShape="1">
              <a:blip r:embed="rId6">
                <a:alphaModFix/>
              </a:blip>
              <a:stretch>
                <a:fillRect b="0" l="0" r="0" t="0"/>
              </a:stretch>
            </a:blipFill>
            <a:ln cap="flat" cmpd="sng" w="19050">
              <a:solidFill>
                <a:schemeClr val="lt1">
                  <a:alpha val="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g32248793e7f_0_0"/>
            <p:cNvSpPr/>
            <p:nvPr/>
          </p:nvSpPr>
          <p:spPr>
            <a:xfrm>
              <a:off x="1200841" y="4634775"/>
              <a:ext cx="5174400" cy="1233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g32248793e7f_0_0"/>
            <p:cNvSpPr txBox="1"/>
            <p:nvPr/>
          </p:nvSpPr>
          <p:spPr>
            <a:xfrm>
              <a:off x="1200841" y="4634775"/>
              <a:ext cx="5174400" cy="1233000"/>
            </a:xfrm>
            <a:prstGeom prst="rect">
              <a:avLst/>
            </a:prstGeom>
            <a:noFill/>
            <a:ln>
              <a:noFill/>
            </a:ln>
          </p:spPr>
          <p:txBody>
            <a:bodyPr anchorCtr="0" anchor="ctr" bIns="130475" lIns="130475" spcFirstLastPara="1" rIns="130475" wrap="square" tIns="130475">
              <a:noAutofit/>
            </a:bodyPr>
            <a:lstStyle/>
            <a:p>
              <a:pPr indent="0" lvl="0" marL="0" marR="0" rtl="0" algn="l">
                <a:lnSpc>
                  <a:spcPct val="100000"/>
                </a:lnSpc>
                <a:spcBef>
                  <a:spcPts val="0"/>
                </a:spcBef>
                <a:spcAft>
                  <a:spcPts val="0"/>
                </a:spcAft>
                <a:buClr>
                  <a:schemeClr val="dk1"/>
                </a:buClr>
                <a:buSzPts val="1900"/>
                <a:buFont typeface="Arial"/>
                <a:buNone/>
              </a:pPr>
              <a:r>
                <a:rPr b="0" i="0" lang="en-US" sz="1900" u="none" cap="none" strike="noStrike">
                  <a:solidFill>
                    <a:schemeClr val="dk1"/>
                  </a:solidFill>
                  <a:latin typeface="Arial"/>
                  <a:ea typeface="Arial"/>
                  <a:cs typeface="Arial"/>
                  <a:sym typeface="Arial"/>
                </a:rPr>
                <a:t>Your feedback helps us improve. Share your thoughts!</a:t>
              </a:r>
              <a:br>
                <a:rPr b="0" i="0" lang="en-US" sz="1900" u="none" cap="none" strike="noStrike">
                  <a:solidFill>
                    <a:schemeClr val="dk1"/>
                  </a:solidFill>
                  <a:latin typeface="Arial"/>
                  <a:ea typeface="Arial"/>
                  <a:cs typeface="Arial"/>
                  <a:sym typeface="Arial"/>
                </a:rPr>
              </a:br>
              <a:r>
                <a:rPr b="1" i="0" lang="en-US" sz="1900" u="none" cap="none" strike="noStrike">
                  <a:solidFill>
                    <a:schemeClr val="dk1"/>
                  </a:solidFill>
                  <a:latin typeface="Arial"/>
                  <a:ea typeface="Arial"/>
                  <a:cs typeface="Arial"/>
                  <a:sym typeface="Arial"/>
                </a:rPr>
                <a:t>Go to our website: </a:t>
              </a:r>
              <a:r>
                <a:rPr b="0" i="0" lang="en-US" sz="1900" u="none" cap="none" strike="noStrike">
                  <a:solidFill>
                    <a:schemeClr val="dk1"/>
                  </a:solidFill>
                  <a:latin typeface="Arial"/>
                  <a:ea typeface="Arial"/>
                  <a:cs typeface="Arial"/>
                  <a:sym typeface="Arial"/>
                </a:rPr>
                <a:t>go.fiu.edu/codecrunch</a:t>
              </a:r>
              <a:endParaRPr b="0" i="0" sz="1900" u="none" cap="none" strike="noStrike">
                <a:solidFill>
                  <a:schemeClr val="dk1"/>
                </a:solidFill>
                <a:latin typeface="Arial"/>
                <a:ea typeface="Arial"/>
                <a:cs typeface="Arial"/>
                <a:sym typeface="Arial"/>
              </a:endParaRPr>
            </a:p>
          </p:txBody>
        </p:sp>
      </p:grpSp>
      <p:pic>
        <p:nvPicPr>
          <p:cNvPr id="306" name="Google Shape;306;g32248793e7f_0_0"/>
          <p:cNvPicPr preferRelativeResize="0"/>
          <p:nvPr/>
        </p:nvPicPr>
        <p:blipFill rotWithShape="1">
          <a:blip r:embed="rId7">
            <a:alphaModFix/>
          </a:blip>
          <a:srcRect b="0" l="0" r="0" t="0"/>
          <a:stretch/>
        </p:blipFill>
        <p:spPr>
          <a:xfrm>
            <a:off x="1709369" y="4633800"/>
            <a:ext cx="1461966" cy="1446766"/>
          </a:xfrm>
          <a:prstGeom prst="rect">
            <a:avLst/>
          </a:prstGeom>
          <a:noFill/>
          <a:ln>
            <a:noFill/>
          </a:ln>
        </p:spPr>
      </p:pic>
      <p:pic>
        <p:nvPicPr>
          <p:cNvPr id="307" name="Google Shape;307;g32248793e7f_0_0"/>
          <p:cNvPicPr preferRelativeResize="0"/>
          <p:nvPr/>
        </p:nvPicPr>
        <p:blipFill rotWithShape="1">
          <a:blip r:embed="rId8">
            <a:alphaModFix/>
          </a:blip>
          <a:srcRect b="0" l="0" r="0" t="0"/>
          <a:stretch/>
        </p:blipFill>
        <p:spPr>
          <a:xfrm>
            <a:off x="1359351" y="1084525"/>
            <a:ext cx="2171899" cy="217192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2024-09-23T23:44:58Z</dcterms:created>
  <dc:creator>Amilcar Pena</dc:creator>
</cp:coreProperties>
</file>