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embeddedFontLst>
    <p:embeddedFont>
      <p:font typeface="Play"/>
      <p:regular r:id="rId14"/>
      <p:bold r:id="rId15"/>
    </p:embeddedFont>
    <p:embeddedFont>
      <p:font typeface="Roboto Mon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oTB00fEnshGvI5vvjUaUzZHqw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font" Target="fonts/Play-bold.fntdata"/><Relationship Id="rId14" Type="http://schemas.openxmlformats.org/officeDocument/2006/relationships/font" Target="fonts/Play-regular.fntdata"/><Relationship Id="rId17" Type="http://schemas.openxmlformats.org/officeDocument/2006/relationships/font" Target="fonts/RobotoMono-bold.fntdata"/><Relationship Id="rId16" Type="http://schemas.openxmlformats.org/officeDocument/2006/relationships/font" Target="fonts/RobotoMono-regular.fntdata"/><Relationship Id="rId5" Type="http://schemas.openxmlformats.org/officeDocument/2006/relationships/notesMaster" Target="notesMasters/notesMaster1.xml"/><Relationship Id="rId19" Type="http://schemas.openxmlformats.org/officeDocument/2006/relationships/font" Target="fonts/RobotoMono-boldItalic.fntdata"/><Relationship Id="rId6" Type="http://schemas.openxmlformats.org/officeDocument/2006/relationships/slide" Target="slides/slide1.xml"/><Relationship Id="rId18" Type="http://schemas.openxmlformats.org/officeDocument/2006/relationships/font" Target="fonts/Roboto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d5b2b5e3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g2d5b2b5e3c8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22bdd7e32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t>[Definition]</a:t>
            </a:r>
            <a:br>
              <a:rPr b="1" lang="en-US" sz="1100"/>
            </a:br>
            <a:r>
              <a:rPr lang="en-US" sz="1100"/>
              <a:t>"Linux is an open-source operating system. Unlike proprietary systems like Windows, Linux is developed and maintained by a global community of contributors. It’s widely used in servers, networking, and, most importantly for us, cybersecurity. If you’ve ever visited a website, there's a good chance that server is running Linux."</a:t>
            </a:r>
            <a:endParaRPr sz="1100"/>
          </a:p>
          <a:p>
            <a:pPr indent="0" lvl="0" marL="0" rtl="0" algn="l">
              <a:lnSpc>
                <a:spcPct val="115000"/>
              </a:lnSpc>
              <a:spcBef>
                <a:spcPts val="1200"/>
              </a:spcBef>
              <a:spcAft>
                <a:spcPts val="0"/>
              </a:spcAft>
              <a:buClr>
                <a:schemeClr val="dk1"/>
              </a:buClr>
              <a:buSzPts val="1100"/>
              <a:buFont typeface="Arial"/>
              <a:buNone/>
            </a:pPr>
            <a:r>
              <a:rPr b="1" lang="en-US" sz="1100"/>
              <a:t>[Why Linux?]</a:t>
            </a:r>
            <a:br>
              <a:rPr b="1" lang="en-US" sz="1100"/>
            </a:br>
            <a:r>
              <a:rPr lang="en-US" sz="1100"/>
              <a:t>"Linux is lightweight and customizable. You can strip it down to only the essentials or build it up with tools specific to your needs. This flexibility makes it a go-to choice for everything from personal projects to massive enterprise systems."</a:t>
            </a:r>
            <a:endParaRPr sz="1100"/>
          </a:p>
          <a:p>
            <a:pPr indent="0" lvl="0" marL="0" rtl="0" algn="l">
              <a:lnSpc>
                <a:spcPct val="115000"/>
              </a:lnSpc>
              <a:spcBef>
                <a:spcPts val="1200"/>
              </a:spcBef>
              <a:spcAft>
                <a:spcPts val="0"/>
              </a:spcAft>
              <a:buClr>
                <a:schemeClr val="dk1"/>
              </a:buClr>
              <a:buSzPts val="1100"/>
              <a:buFont typeface="Arial"/>
              <a:buNone/>
            </a:pPr>
            <a:r>
              <a:rPr lang="en-US" sz="1100"/>
              <a:t>"The command-line interface, or CLI, is another reason Linux stands out. While it may look intimidating at first, the CLI is incredibly powerful. It lets you automate tasks, control every aspect of your system, and is indispensable in security practices."</a:t>
            </a:r>
            <a:endParaRPr sz="1100"/>
          </a:p>
          <a:p>
            <a:pPr indent="0" lvl="0" marL="0" rtl="0" algn="l">
              <a:lnSpc>
                <a:spcPct val="115000"/>
              </a:lnSpc>
              <a:spcBef>
                <a:spcPts val="1200"/>
              </a:spcBef>
              <a:spcAft>
                <a:spcPts val="0"/>
              </a:spcAft>
              <a:buClr>
                <a:schemeClr val="dk1"/>
              </a:buClr>
              <a:buSzPts val="1100"/>
              <a:buFont typeface="Arial"/>
              <a:buNone/>
            </a:pPr>
            <a:r>
              <a:rPr b="1" lang="en-US" sz="1100"/>
              <a:t>[Key Features]</a:t>
            </a:r>
            <a:br>
              <a:rPr b="1" lang="en-US" sz="1100"/>
            </a:br>
            <a:r>
              <a:rPr lang="en-US" sz="1100"/>
              <a:t>"Some of Linux’s standout features include:</a:t>
            </a:r>
            <a:endParaRPr sz="1100"/>
          </a:p>
          <a:p>
            <a:pPr indent="-298450" lvl="0" marL="457200" rtl="0" algn="l">
              <a:lnSpc>
                <a:spcPct val="115000"/>
              </a:lnSpc>
              <a:spcBef>
                <a:spcPts val="1200"/>
              </a:spcBef>
              <a:spcAft>
                <a:spcPts val="0"/>
              </a:spcAft>
              <a:buClr>
                <a:schemeClr val="dk1"/>
              </a:buClr>
              <a:buSzPts val="1100"/>
              <a:buChar char="●"/>
            </a:pPr>
            <a:r>
              <a:rPr b="1" lang="en-US" sz="1100"/>
              <a:t>Multi-User System:</a:t>
            </a:r>
            <a:r>
              <a:rPr lang="en-US" sz="1100"/>
              <a:t> Linux is designed for multiple users to work simultaneously without interfering with each other.</a:t>
            </a:r>
            <a:endParaRPr sz="1100"/>
          </a:p>
          <a:p>
            <a:pPr indent="-298450" lvl="0" marL="457200" rtl="0" algn="l">
              <a:lnSpc>
                <a:spcPct val="115000"/>
              </a:lnSpc>
              <a:spcBef>
                <a:spcPts val="0"/>
              </a:spcBef>
              <a:spcAft>
                <a:spcPts val="0"/>
              </a:spcAft>
              <a:buClr>
                <a:schemeClr val="dk1"/>
              </a:buClr>
              <a:buSzPts val="1100"/>
              <a:buChar char="●"/>
            </a:pPr>
            <a:r>
              <a:rPr b="1" lang="en-US" sz="1100"/>
              <a:t>File Permissions:</a:t>
            </a:r>
            <a:r>
              <a:rPr lang="en-US" sz="1100"/>
              <a:t> Every file and directory has permissions that control who can read, write, or execute it. This is a critical layer of security.</a:t>
            </a:r>
            <a:endParaRPr sz="1100"/>
          </a:p>
          <a:p>
            <a:pPr indent="-298450" lvl="0" marL="457200" rtl="0" algn="l">
              <a:lnSpc>
                <a:spcPct val="115000"/>
              </a:lnSpc>
              <a:spcBef>
                <a:spcPts val="0"/>
              </a:spcBef>
              <a:spcAft>
                <a:spcPts val="0"/>
              </a:spcAft>
              <a:buClr>
                <a:schemeClr val="dk1"/>
              </a:buClr>
              <a:buSzPts val="1100"/>
              <a:buChar char="●"/>
            </a:pPr>
            <a:r>
              <a:rPr b="1" lang="en-US" sz="1100"/>
              <a:t>Process Management:</a:t>
            </a:r>
            <a:r>
              <a:rPr lang="en-US" sz="1100"/>
              <a:t> Linux gives you full visibility and control over processes running on your system, allowing for fine-tuned performance and troubleshooting."</a:t>
            </a:r>
            <a:endParaRPr sz="1100"/>
          </a:p>
          <a:p>
            <a:pPr indent="0" lvl="0" marL="0" rtl="0" algn="l">
              <a:lnSpc>
                <a:spcPct val="100000"/>
              </a:lnSpc>
              <a:spcBef>
                <a:spcPts val="1200"/>
              </a:spcBef>
              <a:spcAft>
                <a:spcPts val="0"/>
              </a:spcAft>
              <a:buSzPts val="1400"/>
              <a:buNone/>
            </a:pPr>
            <a:r>
              <a:t/>
            </a:r>
            <a:endParaRPr/>
          </a:p>
        </p:txBody>
      </p:sp>
      <p:sp>
        <p:nvSpPr>
          <p:cNvPr id="153" name="Google Shape;153;g322bdd7e32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2bdd7e328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t>[Purpose of the Command Line]</a:t>
            </a:r>
            <a:endParaRPr b="1" sz="1100"/>
          </a:p>
          <a:p>
            <a:pPr indent="0" lvl="0" marL="0" rtl="0" algn="l">
              <a:lnSpc>
                <a:spcPct val="115000"/>
              </a:lnSpc>
              <a:spcBef>
                <a:spcPts val="1200"/>
              </a:spcBef>
              <a:spcAft>
                <a:spcPts val="0"/>
              </a:spcAft>
              <a:buClr>
                <a:schemeClr val="dk1"/>
              </a:buClr>
              <a:buSzPts val="1100"/>
              <a:buFont typeface="Arial"/>
              <a:buNone/>
            </a:pPr>
            <a:r>
              <a:rPr lang="en-US" sz="1100"/>
              <a:t>“The command line is essentially a direct bridge between the user and the operating system. It bypasses the graphical interface to let us quickly perform tasks. This is especially important in cybersecurity, where we often need to inspect logs, manage file permissions, and test for vulnerabilities. Think of it as having a direct hotline to the brain of the computer.”</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rPr b="1" lang="en-US" sz="1100"/>
              <a:t>[Key Commands - Basics]</a:t>
            </a:r>
            <a:endParaRPr b="1" sz="1100"/>
          </a:p>
          <a:p>
            <a:pPr indent="0" lvl="0" marL="0" rtl="0" algn="l">
              <a:lnSpc>
                <a:spcPct val="115000"/>
              </a:lnSpc>
              <a:spcBef>
                <a:spcPts val="1200"/>
              </a:spcBef>
              <a:spcAft>
                <a:spcPts val="0"/>
              </a:spcAft>
              <a:buClr>
                <a:schemeClr val="dk1"/>
              </a:buClr>
              <a:buSzPts val="1100"/>
              <a:buFont typeface="Arial"/>
              <a:buNone/>
            </a:pPr>
            <a:r>
              <a:rPr lang="en-US" sz="1100"/>
              <a:t>“Let’s go over some key Linux commands you’ll use frequently.</a:t>
            </a:r>
            <a:endParaRPr sz="1100"/>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ls</a:t>
            </a:r>
            <a:r>
              <a:rPr lang="en-US" sz="1100"/>
              <a:t>: This lists the contents of a directory. For example, running </a:t>
            </a:r>
            <a:r>
              <a:rPr lang="en-US" sz="1100">
                <a:solidFill>
                  <a:srgbClr val="188038"/>
                </a:solidFill>
                <a:latin typeface="Roboto Mono"/>
                <a:ea typeface="Roboto Mono"/>
                <a:cs typeface="Roboto Mono"/>
                <a:sym typeface="Roboto Mono"/>
              </a:rPr>
              <a:t>ls</a:t>
            </a:r>
            <a:r>
              <a:rPr lang="en-US" sz="1100"/>
              <a:t> in your home folder will show all your files and subdirectories.</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cd</a:t>
            </a:r>
            <a:r>
              <a:rPr lang="en-US" sz="1100"/>
              <a:t>: This changes the current directory. If you want to move into a folder called ‘Documents,’ you’d type </a:t>
            </a:r>
            <a:r>
              <a:rPr lang="en-US" sz="1100">
                <a:solidFill>
                  <a:srgbClr val="188038"/>
                </a:solidFill>
                <a:latin typeface="Roboto Mono"/>
                <a:ea typeface="Roboto Mono"/>
                <a:cs typeface="Roboto Mono"/>
                <a:sym typeface="Roboto Mono"/>
              </a:rPr>
              <a:t>cd Documents</a:t>
            </a:r>
            <a:r>
              <a:rPr lang="en-US" sz="1100"/>
              <a:t>.</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pwd</a:t>
            </a:r>
            <a:r>
              <a:rPr lang="en-US" sz="1100"/>
              <a:t>: This prints the working directory. If you’re lost, </a:t>
            </a:r>
            <a:r>
              <a:rPr lang="en-US" sz="1100">
                <a:solidFill>
                  <a:srgbClr val="188038"/>
                </a:solidFill>
                <a:latin typeface="Roboto Mono"/>
                <a:ea typeface="Roboto Mono"/>
                <a:cs typeface="Roboto Mono"/>
                <a:sym typeface="Roboto Mono"/>
              </a:rPr>
              <a:t>pwd</a:t>
            </a:r>
            <a:r>
              <a:rPr lang="en-US" sz="1100"/>
              <a:t> will tell you exactly where you are in the file system.”</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rPr b="1" lang="en-US" sz="1100"/>
              <a:t>[File Permissions and Viewing Files]</a:t>
            </a:r>
            <a:endParaRPr b="1" sz="1100"/>
          </a:p>
          <a:p>
            <a:pPr indent="0" lvl="0" marL="0" rtl="0" algn="l">
              <a:lnSpc>
                <a:spcPct val="115000"/>
              </a:lnSpc>
              <a:spcBef>
                <a:spcPts val="1200"/>
              </a:spcBef>
              <a:spcAft>
                <a:spcPts val="0"/>
              </a:spcAft>
              <a:buClr>
                <a:schemeClr val="dk1"/>
              </a:buClr>
              <a:buSzPts val="1100"/>
              <a:buFont typeface="Arial"/>
              <a:buNone/>
            </a:pPr>
            <a:r>
              <a:rPr lang="en-US" sz="1100"/>
              <a:t>“Permissions are a huge deal in cybersecurity. Let’s cover two commands for handling them:</a:t>
            </a:r>
            <a:endParaRPr sz="1100"/>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chmod</a:t>
            </a:r>
            <a:r>
              <a:rPr lang="en-US" sz="1100"/>
              <a:t>: This changes file permissions. For example, </a:t>
            </a:r>
            <a:r>
              <a:rPr lang="en-US" sz="1100">
                <a:solidFill>
                  <a:srgbClr val="188038"/>
                </a:solidFill>
                <a:latin typeface="Roboto Mono"/>
                <a:ea typeface="Roboto Mono"/>
                <a:cs typeface="Roboto Mono"/>
                <a:sym typeface="Roboto Mono"/>
              </a:rPr>
              <a:t>chmod 644 file.txt</a:t>
            </a:r>
            <a:r>
              <a:rPr lang="en-US" sz="1100"/>
              <a:t> sets permissions so the owner can read and write the file, while others can only read it.</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cat</a:t>
            </a:r>
            <a:r>
              <a:rPr lang="en-US" sz="1100"/>
              <a:t>: This displays the contents of a file. It’s useful for quickly checking logs or configuration files without opening them in an editor.”</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rPr b="1" lang="en-US" sz="1100"/>
              <a:t>[Working with Files and Directories]</a:t>
            </a:r>
            <a:endParaRPr b="1" sz="1100"/>
          </a:p>
          <a:p>
            <a:pPr indent="0" lvl="0" marL="0" rtl="0" algn="l">
              <a:lnSpc>
                <a:spcPct val="115000"/>
              </a:lnSpc>
              <a:spcBef>
                <a:spcPts val="1200"/>
              </a:spcBef>
              <a:spcAft>
                <a:spcPts val="0"/>
              </a:spcAft>
              <a:buClr>
                <a:schemeClr val="dk1"/>
              </a:buClr>
              <a:buSzPts val="1100"/>
              <a:buFont typeface="Arial"/>
              <a:buNone/>
            </a:pPr>
            <a:r>
              <a:rPr lang="en-US" sz="1100"/>
              <a:t>“Here’s where we create, move, and organize files:</a:t>
            </a:r>
            <a:endParaRPr sz="1100"/>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mkdir</a:t>
            </a:r>
            <a:r>
              <a:rPr lang="en-US" sz="1100"/>
              <a:t>: Creates a new directory. For instance, </a:t>
            </a:r>
            <a:r>
              <a:rPr lang="en-US" sz="1100">
                <a:solidFill>
                  <a:srgbClr val="188038"/>
                </a:solidFill>
                <a:latin typeface="Roboto Mono"/>
                <a:ea typeface="Roboto Mono"/>
                <a:cs typeface="Roboto Mono"/>
                <a:sym typeface="Roboto Mono"/>
              </a:rPr>
              <a:t>mkdir Projects</a:t>
            </a:r>
            <a:r>
              <a:rPr lang="en-US" sz="1100"/>
              <a:t> will create a folder named Projects.</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rmdir</a:t>
            </a:r>
            <a:r>
              <a:rPr lang="en-US" sz="1100"/>
              <a:t>: Removes an empty directory. If there’s anything in the folder, you’ll need a different command.</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rm</a:t>
            </a:r>
            <a:r>
              <a:rPr lang="en-US" sz="1100"/>
              <a:t>: Removes files or directories. Be cautious here; </a:t>
            </a:r>
            <a:r>
              <a:rPr lang="en-US" sz="1100">
                <a:solidFill>
                  <a:srgbClr val="188038"/>
                </a:solidFill>
                <a:latin typeface="Roboto Mono"/>
                <a:ea typeface="Roboto Mono"/>
                <a:cs typeface="Roboto Mono"/>
                <a:sym typeface="Roboto Mono"/>
              </a:rPr>
              <a:t>rm</a:t>
            </a:r>
            <a:r>
              <a:rPr lang="en-US" sz="1100"/>
              <a:t> doesn’t have an undo button.”</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rPr b="1" lang="en-US" sz="1100"/>
              <a:t>[Advanced Commands]</a:t>
            </a:r>
            <a:endParaRPr b="1" sz="1100"/>
          </a:p>
          <a:p>
            <a:pPr indent="0" lvl="0" marL="0" rtl="0" algn="l">
              <a:lnSpc>
                <a:spcPct val="115000"/>
              </a:lnSpc>
              <a:spcBef>
                <a:spcPts val="1200"/>
              </a:spcBef>
              <a:spcAft>
                <a:spcPts val="0"/>
              </a:spcAft>
              <a:buClr>
                <a:schemeClr val="dk1"/>
              </a:buClr>
              <a:buSzPts val="1100"/>
              <a:buFont typeface="Arial"/>
              <a:buNone/>
            </a:pPr>
            <a:r>
              <a:rPr lang="en-US" sz="1100"/>
              <a:t>“Now for some commands that are especially powerful:</a:t>
            </a:r>
            <a:endParaRPr sz="1100"/>
          </a:p>
          <a:p>
            <a:pPr indent="-298450" lvl="0" marL="457200" rtl="0" algn="l">
              <a:lnSpc>
                <a:spcPct val="115000"/>
              </a:lnSpc>
              <a:spcBef>
                <a:spcPts val="1200"/>
              </a:spcBef>
              <a:spcAft>
                <a:spcPts val="0"/>
              </a:spcAft>
              <a:buClr>
                <a:schemeClr val="dk1"/>
              </a:buClr>
              <a:buSzPts val="1100"/>
              <a:buChar char="●"/>
            </a:pPr>
            <a:r>
              <a:rPr lang="en-US" sz="1100">
                <a:solidFill>
                  <a:srgbClr val="188038"/>
                </a:solidFill>
                <a:latin typeface="Roboto Mono"/>
                <a:ea typeface="Roboto Mono"/>
                <a:cs typeface="Roboto Mono"/>
                <a:sym typeface="Roboto Mono"/>
              </a:rPr>
              <a:t>touch</a:t>
            </a:r>
            <a:r>
              <a:rPr lang="en-US" sz="1100"/>
              <a:t>: Creates an empty file. You might use this to set up placeholder files.</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cp</a:t>
            </a:r>
            <a:r>
              <a:rPr lang="en-US" sz="1100"/>
              <a:t>: Copies files or directories. For example, </a:t>
            </a:r>
            <a:r>
              <a:rPr lang="en-US" sz="1100">
                <a:solidFill>
                  <a:srgbClr val="188038"/>
                </a:solidFill>
                <a:latin typeface="Roboto Mono"/>
                <a:ea typeface="Roboto Mono"/>
                <a:cs typeface="Roboto Mono"/>
                <a:sym typeface="Roboto Mono"/>
              </a:rPr>
              <a:t>cp file1.txt file2.txt</a:t>
            </a:r>
            <a:r>
              <a:rPr lang="en-US" sz="1100"/>
              <a:t> makes a duplicate of </a:t>
            </a:r>
            <a:r>
              <a:rPr lang="en-US" sz="1100">
                <a:solidFill>
                  <a:srgbClr val="188038"/>
                </a:solidFill>
                <a:latin typeface="Roboto Mono"/>
                <a:ea typeface="Roboto Mono"/>
                <a:cs typeface="Roboto Mono"/>
                <a:sym typeface="Roboto Mono"/>
              </a:rPr>
              <a:t>file1.txt</a:t>
            </a:r>
            <a:r>
              <a:rPr lang="en-US" sz="1100"/>
              <a:t>.</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mv</a:t>
            </a:r>
            <a:r>
              <a:rPr lang="en-US" sz="1100"/>
              <a:t>: Moves or renames files or directories. If you want to rename a file, you can use something like </a:t>
            </a:r>
            <a:r>
              <a:rPr lang="en-US" sz="1100">
                <a:solidFill>
                  <a:srgbClr val="188038"/>
                </a:solidFill>
                <a:latin typeface="Roboto Mono"/>
                <a:ea typeface="Roboto Mono"/>
                <a:cs typeface="Roboto Mono"/>
                <a:sym typeface="Roboto Mono"/>
              </a:rPr>
              <a:t>mv oldname.txt newname.txt</a:t>
            </a:r>
            <a:r>
              <a:rPr lang="en-US" sz="1100"/>
              <a:t>.</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find</a:t>
            </a:r>
            <a:r>
              <a:rPr lang="en-US" sz="1100"/>
              <a:t>: Searches for files in a directory hierarchy. For instance, </a:t>
            </a:r>
            <a:r>
              <a:rPr lang="en-US" sz="1100">
                <a:solidFill>
                  <a:srgbClr val="188038"/>
                </a:solidFill>
                <a:latin typeface="Roboto Mono"/>
                <a:ea typeface="Roboto Mono"/>
                <a:cs typeface="Roboto Mono"/>
                <a:sym typeface="Roboto Mono"/>
              </a:rPr>
              <a:t>find . -name "*.txt"</a:t>
            </a:r>
            <a:r>
              <a:rPr lang="en-US" sz="1100"/>
              <a:t> looks for all </a:t>
            </a:r>
            <a:r>
              <a:rPr lang="en-US" sz="1100">
                <a:solidFill>
                  <a:srgbClr val="188038"/>
                </a:solidFill>
                <a:latin typeface="Roboto Mono"/>
                <a:ea typeface="Roboto Mono"/>
                <a:cs typeface="Roboto Mono"/>
                <a:sym typeface="Roboto Mono"/>
              </a:rPr>
              <a:t>.txt</a:t>
            </a:r>
            <a:r>
              <a:rPr lang="en-US" sz="1100"/>
              <a:t> files in the current directory and its subdirectories.</a:t>
            </a:r>
            <a:endParaRPr sz="1100"/>
          </a:p>
          <a:p>
            <a:pPr indent="-298450" lvl="0" marL="457200" rtl="0" algn="l">
              <a:lnSpc>
                <a:spcPct val="115000"/>
              </a:lnSpc>
              <a:spcBef>
                <a:spcPts val="0"/>
              </a:spcBef>
              <a:spcAft>
                <a:spcPts val="0"/>
              </a:spcAft>
              <a:buClr>
                <a:schemeClr val="dk1"/>
              </a:buClr>
              <a:buSzPts val="1100"/>
              <a:buChar char="●"/>
            </a:pPr>
            <a:r>
              <a:rPr lang="en-US" sz="1100">
                <a:solidFill>
                  <a:srgbClr val="188038"/>
                </a:solidFill>
                <a:latin typeface="Roboto Mono"/>
                <a:ea typeface="Roboto Mono"/>
                <a:cs typeface="Roboto Mono"/>
                <a:sym typeface="Roboto Mono"/>
              </a:rPr>
              <a:t>grep</a:t>
            </a:r>
            <a:r>
              <a:rPr lang="en-US" sz="1100"/>
              <a:t>: Searches for specific patterns in files. For example, </a:t>
            </a:r>
            <a:r>
              <a:rPr lang="en-US" sz="1100">
                <a:solidFill>
                  <a:srgbClr val="188038"/>
                </a:solidFill>
                <a:latin typeface="Roboto Mono"/>
                <a:ea typeface="Roboto Mono"/>
                <a:cs typeface="Roboto Mono"/>
                <a:sym typeface="Roboto Mono"/>
              </a:rPr>
              <a:t>grep "error" logfile.txt</a:t>
            </a:r>
            <a:r>
              <a:rPr lang="en-US" sz="1100"/>
              <a:t> will look for the word ‘error’ in a log file.”</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rPr b="1" lang="en-US" sz="1100"/>
              <a:t>[Importance in Cybersecurity]</a:t>
            </a:r>
            <a:endParaRPr b="1" sz="1100"/>
          </a:p>
          <a:p>
            <a:pPr indent="0" lvl="0" marL="0" rtl="0" algn="l">
              <a:lnSpc>
                <a:spcPct val="115000"/>
              </a:lnSpc>
              <a:spcBef>
                <a:spcPts val="1200"/>
              </a:spcBef>
              <a:spcAft>
                <a:spcPts val="0"/>
              </a:spcAft>
              <a:buClr>
                <a:schemeClr val="dk1"/>
              </a:buClr>
              <a:buSzPts val="1100"/>
              <a:buFont typeface="Arial"/>
              <a:buNone/>
            </a:pPr>
            <a:r>
              <a:rPr lang="en-US" sz="1100"/>
              <a:t>“Why is this important in cybersecurity? The command line gives us precise control over the system. It’s crucial for tasks like:</a:t>
            </a:r>
            <a:endParaRPr sz="1100"/>
          </a:p>
          <a:p>
            <a:pPr indent="-298450" lvl="0" marL="457200" rtl="0" algn="l">
              <a:lnSpc>
                <a:spcPct val="115000"/>
              </a:lnSpc>
              <a:spcBef>
                <a:spcPts val="1200"/>
              </a:spcBef>
              <a:spcAft>
                <a:spcPts val="0"/>
              </a:spcAft>
              <a:buClr>
                <a:schemeClr val="dk1"/>
              </a:buClr>
              <a:buSzPts val="1100"/>
              <a:buChar char="●"/>
            </a:pPr>
            <a:r>
              <a:rPr lang="en-US" sz="1100"/>
              <a:t>Inspecting system logs for suspicious activity.</a:t>
            </a:r>
            <a:endParaRPr sz="1100"/>
          </a:p>
          <a:p>
            <a:pPr indent="-298450" lvl="0" marL="457200" rtl="0" algn="l">
              <a:lnSpc>
                <a:spcPct val="115000"/>
              </a:lnSpc>
              <a:spcBef>
                <a:spcPts val="0"/>
              </a:spcBef>
              <a:spcAft>
                <a:spcPts val="0"/>
              </a:spcAft>
              <a:buClr>
                <a:schemeClr val="dk1"/>
              </a:buClr>
              <a:buSzPts val="1100"/>
              <a:buChar char="●"/>
            </a:pPr>
            <a:r>
              <a:rPr lang="en-US" sz="1100"/>
              <a:t>Managing access through file permissions.</a:t>
            </a:r>
            <a:endParaRPr sz="1100"/>
          </a:p>
          <a:p>
            <a:pPr indent="-298450" lvl="0" marL="457200" rtl="0" algn="l">
              <a:lnSpc>
                <a:spcPct val="115000"/>
              </a:lnSpc>
              <a:spcBef>
                <a:spcPts val="0"/>
              </a:spcBef>
              <a:spcAft>
                <a:spcPts val="0"/>
              </a:spcAft>
              <a:buClr>
                <a:schemeClr val="dk1"/>
              </a:buClr>
              <a:buSzPts val="1100"/>
              <a:buChar char="●"/>
            </a:pPr>
            <a:r>
              <a:rPr lang="en-US" sz="1100"/>
              <a:t>Testing vulnerabilities by interacting directly with system processes.”</a:t>
            </a:r>
            <a:endParaRPr sz="1100"/>
          </a:p>
          <a:p>
            <a:pPr indent="0" lvl="0" marL="0" rtl="0" algn="l">
              <a:lnSpc>
                <a:spcPct val="100000"/>
              </a:lnSpc>
              <a:spcBef>
                <a:spcPts val="1200"/>
              </a:spcBef>
              <a:spcAft>
                <a:spcPts val="0"/>
              </a:spcAft>
              <a:buSzPts val="1400"/>
              <a:buNone/>
            </a:pPr>
            <a:r>
              <a:rPr lang="en-US"/>
              <a:t>Go through each in webliminal</a:t>
            </a:r>
            <a:endParaRPr/>
          </a:p>
        </p:txBody>
      </p:sp>
      <p:sp>
        <p:nvSpPr>
          <p:cNvPr id="162" name="Google Shape;162;g322bdd7e328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22bdd7e328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22bdd7e328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22bdd7e328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100"/>
              <a:t>Task 1:</a:t>
            </a:r>
            <a:r>
              <a:rPr lang="en-US" sz="1100"/>
              <a:t> Navigate to the </a:t>
            </a:r>
            <a:r>
              <a:rPr lang="en-US" sz="1100">
                <a:solidFill>
                  <a:srgbClr val="188038"/>
                </a:solidFill>
                <a:latin typeface="Roboto Mono"/>
                <a:ea typeface="Roboto Mono"/>
                <a:cs typeface="Roboto Mono"/>
                <a:sym typeface="Roboto Mono"/>
              </a:rPr>
              <a:t>challenge/secrets</a:t>
            </a:r>
            <a:r>
              <a:rPr lang="en-US" sz="1100"/>
              <a:t> directory. What files do you see?</a:t>
            </a:r>
            <a:endParaRPr sz="1100"/>
          </a:p>
          <a:p>
            <a:pPr indent="-298450" lvl="0" marL="457200" rtl="0" algn="l">
              <a:lnSpc>
                <a:spcPct val="115000"/>
              </a:lnSpc>
              <a:spcBef>
                <a:spcPts val="1200"/>
              </a:spcBef>
              <a:spcAft>
                <a:spcPts val="0"/>
              </a:spcAft>
              <a:buClr>
                <a:schemeClr val="dk1"/>
              </a:buClr>
              <a:buSzPts val="1100"/>
              <a:buChar char="●"/>
            </a:pPr>
            <a:r>
              <a:rPr b="1" lang="en-US" sz="1100"/>
              <a:t>Hint:</a:t>
            </a:r>
            <a:r>
              <a:rPr lang="en-US" sz="1100"/>
              <a:t> Use </a:t>
            </a:r>
            <a:r>
              <a:rPr lang="en-US" sz="1100">
                <a:solidFill>
                  <a:srgbClr val="188038"/>
                </a:solidFill>
                <a:latin typeface="Roboto Mono"/>
                <a:ea typeface="Roboto Mono"/>
                <a:cs typeface="Roboto Mono"/>
                <a:sym typeface="Roboto Mono"/>
              </a:rPr>
              <a:t>cd</a:t>
            </a:r>
            <a:r>
              <a:rPr lang="en-US" sz="1100"/>
              <a:t> and </a:t>
            </a:r>
            <a:r>
              <a:rPr lang="en-US" sz="1100">
                <a:solidFill>
                  <a:srgbClr val="188038"/>
                </a:solidFill>
                <a:latin typeface="Roboto Mono"/>
                <a:ea typeface="Roboto Mono"/>
                <a:cs typeface="Roboto Mono"/>
                <a:sym typeface="Roboto Mono"/>
              </a:rPr>
              <a:t>ls</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b="1" lang="en-US" sz="1100"/>
              <a:t>Task 2:</a:t>
            </a:r>
            <a:r>
              <a:rPr lang="en-US" sz="1100"/>
              <a:t> Read the contents of </a:t>
            </a:r>
            <a:r>
              <a:rPr lang="en-US" sz="1100">
                <a:solidFill>
                  <a:srgbClr val="188038"/>
                </a:solidFill>
                <a:latin typeface="Roboto Mono"/>
                <a:ea typeface="Roboto Mono"/>
                <a:cs typeface="Roboto Mono"/>
                <a:sym typeface="Roboto Mono"/>
              </a:rPr>
              <a:t>key.txt</a:t>
            </a:r>
            <a:r>
              <a:rPr lang="en-US" sz="1100"/>
              <a:t> using a command.</a:t>
            </a:r>
            <a:endParaRPr sz="1100"/>
          </a:p>
          <a:p>
            <a:pPr indent="-298450" lvl="0" marL="457200" rtl="0" algn="l">
              <a:lnSpc>
                <a:spcPct val="115000"/>
              </a:lnSpc>
              <a:spcBef>
                <a:spcPts val="1200"/>
              </a:spcBef>
              <a:spcAft>
                <a:spcPts val="0"/>
              </a:spcAft>
              <a:buClr>
                <a:schemeClr val="dk1"/>
              </a:buClr>
              <a:buSzPts val="1100"/>
              <a:buChar char="●"/>
            </a:pPr>
            <a:r>
              <a:rPr b="1" lang="en-US" sz="1100"/>
              <a:t>Hint:</a:t>
            </a:r>
            <a:r>
              <a:rPr lang="en-US" sz="1100"/>
              <a:t> Use </a:t>
            </a:r>
            <a:r>
              <a:rPr lang="en-US" sz="1100">
                <a:solidFill>
                  <a:srgbClr val="188038"/>
                </a:solidFill>
                <a:latin typeface="Roboto Mono"/>
                <a:ea typeface="Roboto Mono"/>
                <a:cs typeface="Roboto Mono"/>
                <a:sym typeface="Roboto Mono"/>
              </a:rPr>
              <a:t>cat</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b="1" lang="en-US" sz="1100"/>
              <a:t>Task 3:</a:t>
            </a:r>
            <a:r>
              <a:rPr lang="en-US" sz="1100"/>
              <a:t> Change permissions for </a:t>
            </a:r>
            <a:r>
              <a:rPr lang="en-US" sz="1100">
                <a:solidFill>
                  <a:srgbClr val="188038"/>
                </a:solidFill>
                <a:latin typeface="Roboto Mono"/>
                <a:ea typeface="Roboto Mono"/>
                <a:cs typeface="Roboto Mono"/>
                <a:sym typeface="Roboto Mono"/>
              </a:rPr>
              <a:t>password.doc</a:t>
            </a:r>
            <a:r>
              <a:rPr lang="en-US" sz="1100"/>
              <a:t> so others can read it.</a:t>
            </a:r>
            <a:endParaRPr sz="1100"/>
          </a:p>
          <a:p>
            <a:pPr indent="-298450" lvl="0" marL="457200" rtl="0" algn="l">
              <a:lnSpc>
                <a:spcPct val="115000"/>
              </a:lnSpc>
              <a:spcBef>
                <a:spcPts val="1200"/>
              </a:spcBef>
              <a:spcAft>
                <a:spcPts val="0"/>
              </a:spcAft>
              <a:buClr>
                <a:schemeClr val="dk1"/>
              </a:buClr>
              <a:buSzPts val="1100"/>
              <a:buChar char="●"/>
            </a:pPr>
            <a:r>
              <a:rPr b="1" lang="en-US" sz="1100"/>
              <a:t>Hint:</a:t>
            </a:r>
            <a:r>
              <a:rPr lang="en-US" sz="1100"/>
              <a:t> Use </a:t>
            </a:r>
            <a:r>
              <a:rPr lang="en-US" sz="1100">
                <a:solidFill>
                  <a:srgbClr val="188038"/>
                </a:solidFill>
                <a:latin typeface="Roboto Mono"/>
                <a:ea typeface="Roboto Mono"/>
                <a:cs typeface="Roboto Mono"/>
                <a:sym typeface="Roboto Mono"/>
              </a:rPr>
              <a:t>chmod 644</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b="1" lang="en-US" sz="1100"/>
              <a:t>Task 4:</a:t>
            </a:r>
            <a:r>
              <a:rPr lang="en-US" sz="1100"/>
              <a:t> Find the hidden file in the </a:t>
            </a:r>
            <a:r>
              <a:rPr lang="en-US" sz="1100">
                <a:solidFill>
                  <a:srgbClr val="188038"/>
                </a:solidFill>
                <a:latin typeface="Roboto Mono"/>
                <a:ea typeface="Roboto Mono"/>
                <a:cs typeface="Roboto Mono"/>
                <a:sym typeface="Roboto Mono"/>
              </a:rPr>
              <a:t>challenge</a:t>
            </a:r>
            <a:r>
              <a:rPr lang="en-US" sz="1100"/>
              <a:t> directory.</a:t>
            </a:r>
            <a:endParaRPr sz="1100"/>
          </a:p>
          <a:p>
            <a:pPr indent="-298450" lvl="0" marL="457200" rtl="0" algn="l">
              <a:lnSpc>
                <a:spcPct val="115000"/>
              </a:lnSpc>
              <a:spcBef>
                <a:spcPts val="1200"/>
              </a:spcBef>
              <a:spcAft>
                <a:spcPts val="0"/>
              </a:spcAft>
              <a:buClr>
                <a:schemeClr val="dk1"/>
              </a:buClr>
              <a:buSzPts val="1100"/>
              <a:buChar char="●"/>
            </a:pPr>
            <a:r>
              <a:rPr b="1" lang="en-US" sz="1100"/>
              <a:t>Hint:</a:t>
            </a:r>
            <a:r>
              <a:rPr lang="en-US" sz="1100"/>
              <a:t> Use </a:t>
            </a:r>
            <a:r>
              <a:rPr lang="en-US" sz="1100">
                <a:solidFill>
                  <a:srgbClr val="188038"/>
                </a:solidFill>
                <a:latin typeface="Roboto Mono"/>
                <a:ea typeface="Roboto Mono"/>
                <a:cs typeface="Roboto Mono"/>
                <a:sym typeface="Roboto Mono"/>
              </a:rPr>
              <a:t>ls -a</a:t>
            </a:r>
            <a:r>
              <a:rPr lang="en-US" sz="1100"/>
              <a:t>.</a:t>
            </a:r>
            <a:endParaRPr sz="1100"/>
          </a:p>
          <a:p>
            <a:pPr indent="0" lvl="0" marL="0" rtl="0" algn="l">
              <a:lnSpc>
                <a:spcPct val="115000"/>
              </a:lnSpc>
              <a:spcBef>
                <a:spcPts val="1200"/>
              </a:spcBef>
              <a:spcAft>
                <a:spcPts val="0"/>
              </a:spcAft>
              <a:buClr>
                <a:schemeClr val="dk1"/>
              </a:buClr>
              <a:buSzPts val="1100"/>
              <a:buFont typeface="Arial"/>
              <a:buNone/>
            </a:pPr>
            <a:r>
              <a:rPr b="1" lang="en-US" sz="1100"/>
              <a:t>Task 5:</a:t>
            </a:r>
            <a:r>
              <a:rPr lang="en-US" sz="1100"/>
              <a:t> Search for "ERROR" in the </a:t>
            </a:r>
            <a:r>
              <a:rPr lang="en-US" sz="1100">
                <a:solidFill>
                  <a:srgbClr val="188038"/>
                </a:solidFill>
                <a:latin typeface="Roboto Mono"/>
                <a:ea typeface="Roboto Mono"/>
                <a:cs typeface="Roboto Mono"/>
                <a:sym typeface="Roboto Mono"/>
              </a:rPr>
              <a:t>access.log</a:t>
            </a:r>
            <a:r>
              <a:rPr lang="en-US" sz="1100"/>
              <a:t>.</a:t>
            </a:r>
            <a:endParaRPr sz="1100"/>
          </a:p>
          <a:p>
            <a:pPr indent="-298450" lvl="0" marL="457200" rtl="0" algn="l">
              <a:lnSpc>
                <a:spcPct val="115000"/>
              </a:lnSpc>
              <a:spcBef>
                <a:spcPts val="1200"/>
              </a:spcBef>
              <a:spcAft>
                <a:spcPts val="0"/>
              </a:spcAft>
              <a:buClr>
                <a:schemeClr val="dk1"/>
              </a:buClr>
              <a:buSzPts val="1100"/>
              <a:buChar char="●"/>
            </a:pPr>
            <a:r>
              <a:rPr b="1" lang="en-US" sz="1100"/>
              <a:t>Hint:</a:t>
            </a:r>
            <a:r>
              <a:rPr lang="en-US" sz="1100"/>
              <a:t> Use </a:t>
            </a:r>
            <a:r>
              <a:rPr lang="en-US" sz="1100">
                <a:solidFill>
                  <a:srgbClr val="188038"/>
                </a:solidFill>
                <a:latin typeface="Roboto Mono"/>
                <a:ea typeface="Roboto Mono"/>
                <a:cs typeface="Roboto Mono"/>
                <a:sym typeface="Roboto Mono"/>
              </a:rPr>
              <a:t>grep "ERROR" challenge/logs/access.log</a:t>
            </a:r>
            <a:r>
              <a:rPr lang="en-US" sz="1100"/>
              <a:t>.</a:t>
            </a:r>
            <a:endParaRPr b="1"/>
          </a:p>
        </p:txBody>
      </p:sp>
      <p:sp>
        <p:nvSpPr>
          <p:cNvPr id="180" name="Google Shape;180;g322bdd7e328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2bdd7e328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g322bdd7e328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d5b2b5e3c8_0_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g2d5b2b5e3c8_0_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11fd835375_0_4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311fd835375_0_4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g311fd835375_0_4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311fd835375_0_8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311fd835375_0_8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311fd835375_0_8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g311fd835375_0_93"/>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9" name="Google Shape;19;g311fd835375_0_9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g311fd835375_0_9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 name="Google Shape;22;g311fd835375_0_9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3" name="Google Shape;23;g311fd835375_0_9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g311fd835375_0_10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 name="Google Shape;26;g311fd835375_0_10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27" name="Google Shape;27;g311fd835375_0_10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28" name="Google Shape;28;g311fd835375_0_100"/>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g311fd835375_0_10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1" name="Google Shape;31;g311fd835375_0_10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g311fd835375_0_108"/>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4" name="Google Shape;34;g311fd835375_0_108"/>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5" name="Google Shape;35;g311fd835375_0_10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g311fd835375_0_112"/>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38" name="Google Shape;38;g311fd835375_0_11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g311fd835375_0_115"/>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11fd835375_0_115"/>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2" name="Google Shape;42;g311fd835375_0_115"/>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3" name="Google Shape;43;g311fd835375_0_115"/>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44" name="Google Shape;44;g311fd835375_0_11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g311fd835375_0_121"/>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SzPts val="2400"/>
              <a:buNone/>
              <a:defRPr/>
            </a:lvl1pPr>
          </a:lstStyle>
          <a:p/>
        </p:txBody>
      </p:sp>
      <p:sp>
        <p:nvSpPr>
          <p:cNvPr id="47" name="Google Shape;47;g311fd835375_0_12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g311fd835375_0_124"/>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0" name="Google Shape;50;g311fd835375_0_124"/>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51" name="Google Shape;51;g311fd835375_0_12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g311fd835375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g311fd835375_0_1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56" name="Google Shape;56;g311fd835375_0_1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57" name="Google Shape;57;g311fd835375_0_1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58" name="Google Shape;58;g311fd835375_0_1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59" name="Google Shape;59;g311fd835375_0_1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g311fd835375_0_55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g311fd835375_0_55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g311fd835375_0_55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g311fd835375_0_55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g311fd835375_0_55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g311fd835375_0_59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g311fd835375_0_59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g311fd835375_0_59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6" name="Shape 76"/>
        <p:cNvGrpSpPr/>
        <p:nvPr/>
      </p:nvGrpSpPr>
      <p:grpSpPr>
        <a:xfrm>
          <a:off x="0" y="0"/>
          <a:ext cx="0" cy="0"/>
          <a:chOff x="0" y="0"/>
          <a:chExt cx="0" cy="0"/>
        </a:xfrm>
      </p:grpSpPr>
      <p:sp>
        <p:nvSpPr>
          <p:cNvPr id="77" name="Google Shape;77;g311fd835375_0_551"/>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g311fd835375_0_551"/>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9" name="Google Shape;79;g311fd835375_0_55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g311fd835375_0_55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g311fd835375_0_5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2" name="Shape 82"/>
        <p:cNvGrpSpPr/>
        <p:nvPr/>
      </p:nvGrpSpPr>
      <p:grpSpPr>
        <a:xfrm>
          <a:off x="0" y="0"/>
          <a:ext cx="0" cy="0"/>
          <a:chOff x="0" y="0"/>
          <a:chExt cx="0" cy="0"/>
        </a:xfrm>
      </p:grpSpPr>
      <p:sp>
        <p:nvSpPr>
          <p:cNvPr id="83" name="Google Shape;83;g311fd835375_0_563"/>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311fd835375_0_563"/>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85" name="Google Shape;85;g311fd835375_0_56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g311fd835375_0_56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g311fd835375_0_5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8" name="Shape 88"/>
        <p:cNvGrpSpPr/>
        <p:nvPr/>
      </p:nvGrpSpPr>
      <p:grpSpPr>
        <a:xfrm>
          <a:off x="0" y="0"/>
          <a:ext cx="0" cy="0"/>
          <a:chOff x="0" y="0"/>
          <a:chExt cx="0" cy="0"/>
        </a:xfrm>
      </p:grpSpPr>
      <p:sp>
        <p:nvSpPr>
          <p:cNvPr id="89" name="Google Shape;89;g311fd835375_0_56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311fd835375_0_569"/>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g311fd835375_0_569"/>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g311fd835375_0_56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g311fd835375_0_56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11fd835375_0_56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5" name="Shape 95"/>
        <p:cNvGrpSpPr/>
        <p:nvPr/>
      </p:nvGrpSpPr>
      <p:grpSpPr>
        <a:xfrm>
          <a:off x="0" y="0"/>
          <a:ext cx="0" cy="0"/>
          <a:chOff x="0" y="0"/>
          <a:chExt cx="0" cy="0"/>
        </a:xfrm>
      </p:grpSpPr>
      <p:sp>
        <p:nvSpPr>
          <p:cNvPr id="96" name="Google Shape;96;g311fd835375_0_576"/>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g311fd835375_0_57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8" name="Google Shape;98;g311fd835375_0_57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g311fd835375_0_57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0" name="Google Shape;100;g311fd835375_0_57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g311fd835375_0_57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311fd835375_0_57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311fd835375_0_57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g311fd835375_0_58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11fd835375_0_58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311fd835375_0_58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11fd835375_0_58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9" name="Shape 109"/>
        <p:cNvGrpSpPr/>
        <p:nvPr/>
      </p:nvGrpSpPr>
      <p:grpSpPr>
        <a:xfrm>
          <a:off x="0" y="0"/>
          <a:ext cx="0" cy="0"/>
          <a:chOff x="0" y="0"/>
          <a:chExt cx="0" cy="0"/>
        </a:xfrm>
      </p:grpSpPr>
      <p:sp>
        <p:nvSpPr>
          <p:cNvPr id="110" name="Google Shape;110;g311fd835375_0_59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311fd835375_0_594"/>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12" name="Google Shape;112;g311fd835375_0_594"/>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3" name="Google Shape;113;g311fd835375_0_59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11fd835375_0_5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g311fd835375_0_5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6" name="Shape 116"/>
        <p:cNvGrpSpPr/>
        <p:nvPr/>
      </p:nvGrpSpPr>
      <p:grpSpPr>
        <a:xfrm>
          <a:off x="0" y="0"/>
          <a:ext cx="0" cy="0"/>
          <a:chOff x="0" y="0"/>
          <a:chExt cx="0" cy="0"/>
        </a:xfrm>
      </p:grpSpPr>
      <p:sp>
        <p:nvSpPr>
          <p:cNvPr id="117" name="Google Shape;117;g311fd835375_0_601"/>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311fd835375_0_601"/>
          <p:cNvSpPr/>
          <p:nvPr>
            <p:ph idx="2" type="pic"/>
          </p:nvPr>
        </p:nvSpPr>
        <p:spPr>
          <a:xfrm>
            <a:off x="5183188" y="987425"/>
            <a:ext cx="6172200" cy="4873500"/>
          </a:xfrm>
          <a:prstGeom prst="rect">
            <a:avLst/>
          </a:prstGeom>
          <a:noFill/>
          <a:ln>
            <a:noFill/>
          </a:ln>
        </p:spPr>
      </p:sp>
      <p:sp>
        <p:nvSpPr>
          <p:cNvPr id="119" name="Google Shape;119;g311fd835375_0_601"/>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0" name="Google Shape;120;g311fd835375_0_60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g311fd835375_0_60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11fd835375_0_60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3" name="Shape 123"/>
        <p:cNvGrpSpPr/>
        <p:nvPr/>
      </p:nvGrpSpPr>
      <p:grpSpPr>
        <a:xfrm>
          <a:off x="0" y="0"/>
          <a:ext cx="0" cy="0"/>
          <a:chOff x="0" y="0"/>
          <a:chExt cx="0" cy="0"/>
        </a:xfrm>
      </p:grpSpPr>
      <p:sp>
        <p:nvSpPr>
          <p:cNvPr id="124" name="Google Shape;124;g311fd835375_0_60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g311fd835375_0_608"/>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g311fd835375_0_60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11fd835375_0_60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11fd835375_0_60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9" name="Shape 129"/>
        <p:cNvGrpSpPr/>
        <p:nvPr/>
      </p:nvGrpSpPr>
      <p:grpSpPr>
        <a:xfrm>
          <a:off x="0" y="0"/>
          <a:ext cx="0" cy="0"/>
          <a:chOff x="0" y="0"/>
          <a:chExt cx="0" cy="0"/>
        </a:xfrm>
      </p:grpSpPr>
      <p:sp>
        <p:nvSpPr>
          <p:cNvPr id="130" name="Google Shape;130;g311fd835375_0_614"/>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311fd835375_0_614"/>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g311fd835375_0_61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311fd835375_0_6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311fd835375_0_6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311fd835375_0_8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311fd835375_0_85"/>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311fd835375_0_8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g311fd835375_0_54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2" name="Google Shape;62;g311fd835375_0_54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3" name="Google Shape;63;g311fd835375_0_54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4" name="Google Shape;64;g311fd835375_0_5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5" name="Google Shape;65;g311fd835375_0_5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tryhackme.com/r/room/linuxfundamentalspart1" TargetMode="Externa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replit.com/@jjosephe1216/Linux-Fundamentals-Activity"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9" Type="http://schemas.openxmlformats.org/officeDocument/2006/relationships/image" Target="../media/image1.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d5b2b5e3c8_0_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40" name="Google Shape;140;g2d5b2b5e3c8_0_0"/>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D9E5F8"/>
            </a:solidFill>
            <a:prstDash val="solid"/>
            <a:miter lim="800000"/>
            <a:headEnd len="sm" w="sm" type="none"/>
            <a:tailEnd len="sm" w="sm" type="none"/>
          </a:ln>
          <a:effectLst>
            <a:outerShdw blurRad="50800" rotWithShape="0" algn="l" dist="38100">
              <a:srgbClr val="D8D8D8">
                <a:alpha val="2823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1" name="Google Shape;141;g2d5b2b5e3c8_0_0"/>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2" name="Google Shape;142;g2d5b2b5e3c8_0_0"/>
          <p:cNvSpPr txBox="1"/>
          <p:nvPr>
            <p:ph type="ctrTitle"/>
          </p:nvPr>
        </p:nvSpPr>
        <p:spPr>
          <a:xfrm>
            <a:off x="477974" y="1122375"/>
            <a:ext cx="4371600" cy="3204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Play"/>
              <a:buNone/>
            </a:pPr>
            <a:r>
              <a:rPr lang="en-US" sz="4800"/>
              <a:t>Linux Fundamentals</a:t>
            </a:r>
            <a:endParaRPr sz="4800"/>
          </a:p>
          <a:p>
            <a:pPr indent="0" lvl="0" marL="0" rtl="0" algn="l">
              <a:lnSpc>
                <a:spcPct val="90000"/>
              </a:lnSpc>
              <a:spcBef>
                <a:spcPts val="0"/>
              </a:spcBef>
              <a:spcAft>
                <a:spcPts val="0"/>
              </a:spcAft>
              <a:buClr>
                <a:schemeClr val="dk1"/>
              </a:buClr>
              <a:buSzPts val="4800"/>
              <a:buFont typeface="Play"/>
              <a:buNone/>
            </a:pPr>
            <a:r>
              <a:t/>
            </a:r>
            <a:endParaRPr sz="4800"/>
          </a:p>
          <a:p>
            <a:pPr indent="0" lvl="0" marL="0" rtl="0" algn="l">
              <a:lnSpc>
                <a:spcPct val="90000"/>
              </a:lnSpc>
              <a:spcBef>
                <a:spcPts val="0"/>
              </a:spcBef>
              <a:spcAft>
                <a:spcPts val="0"/>
              </a:spcAft>
              <a:buClr>
                <a:schemeClr val="dk1"/>
              </a:buClr>
              <a:buSzPts val="4800"/>
              <a:buFont typeface="Play"/>
              <a:buNone/>
            </a:pPr>
            <a:r>
              <a:rPr lang="en-US" sz="4800"/>
              <a:t>Week 2</a:t>
            </a:r>
            <a:endParaRPr sz="4800"/>
          </a:p>
        </p:txBody>
      </p:sp>
      <p:sp>
        <p:nvSpPr>
          <p:cNvPr id="143" name="Google Shape;143;g2d5b2b5e3c8_0_0"/>
          <p:cNvSpPr/>
          <p:nvPr/>
        </p:nvSpPr>
        <p:spPr>
          <a:xfrm>
            <a:off x="481029" y="4546920"/>
            <a:ext cx="4023300" cy="183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900"/>
              <a:buFont typeface="Arial"/>
              <a:buNone/>
            </a:pPr>
            <a:r>
              <a:t/>
            </a:r>
            <a:endParaRPr b="0" i="0" sz="1900" u="none" cap="none" strike="noStrike">
              <a:solidFill>
                <a:srgbClr val="FFFFFF"/>
              </a:solidFill>
              <a:latin typeface="Calibri"/>
              <a:ea typeface="Calibri"/>
              <a:cs typeface="Calibri"/>
              <a:sym typeface="Calibri"/>
            </a:endParaRPr>
          </a:p>
        </p:txBody>
      </p:sp>
      <p:sp>
        <p:nvSpPr>
          <p:cNvPr id="144" name="Google Shape;144;g2d5b2b5e3c8_0_0"/>
          <p:cNvSpPr txBox="1"/>
          <p:nvPr/>
        </p:nvSpPr>
        <p:spPr>
          <a:xfrm>
            <a:off x="987333" y="6257233"/>
            <a:ext cx="3122700" cy="489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rgbClr val="000000"/>
                </a:solidFill>
                <a:latin typeface="Arial"/>
                <a:ea typeface="Arial"/>
                <a:cs typeface="Arial"/>
                <a:sym typeface="Arial"/>
              </a:rPr>
              <a:t>linktr.ee/CODE.CRUNCH</a:t>
            </a:r>
            <a:endParaRPr b="0" i="0" sz="2000" u="none" cap="none" strike="noStrike">
              <a:solidFill>
                <a:srgbClr val="000000"/>
              </a:solidFill>
              <a:latin typeface="Arial"/>
              <a:ea typeface="Arial"/>
              <a:cs typeface="Arial"/>
              <a:sym typeface="Arial"/>
            </a:endParaRPr>
          </a:p>
        </p:txBody>
      </p:sp>
      <p:sp>
        <p:nvSpPr>
          <p:cNvPr id="145" name="Google Shape;145;g2d5b2b5e3c8_0_0"/>
          <p:cNvSpPr txBox="1"/>
          <p:nvPr/>
        </p:nvSpPr>
        <p:spPr>
          <a:xfrm>
            <a:off x="380333" y="5155533"/>
            <a:ext cx="2070900" cy="657900"/>
          </a:xfrm>
          <a:prstGeom prst="rect">
            <a:avLst/>
          </a:prstGeom>
          <a:noFill/>
          <a:ln>
            <a:noFill/>
          </a:ln>
        </p:spPr>
        <p:txBody>
          <a:bodyPr anchorCtr="0" anchor="t" bIns="45700" lIns="91425" spcFirstLastPara="1" rIns="91425" wrap="square" tIns="45700">
            <a:normAutofit fontScale="32500" lnSpcReduction="10000"/>
          </a:bodyPr>
          <a:lstStyle/>
          <a:p>
            <a:pPr indent="0" lvl="0" marL="0" marR="0" rtl="0" algn="l">
              <a:lnSpc>
                <a:spcPct val="100000"/>
              </a:lnSpc>
              <a:spcBef>
                <a:spcPts val="0"/>
              </a:spcBef>
              <a:spcAft>
                <a:spcPts val="0"/>
              </a:spcAft>
              <a:buClr>
                <a:srgbClr val="000000"/>
              </a:buClr>
              <a:buSzPct val="100000"/>
              <a:buFont typeface="Arial"/>
              <a:buNone/>
            </a:pPr>
            <a:r>
              <a:rPr b="1" i="0" lang="en-US" sz="8000" u="none" cap="none" strike="noStrike">
                <a:solidFill>
                  <a:schemeClr val="dk1"/>
                </a:solidFill>
                <a:latin typeface="Arial"/>
                <a:ea typeface="Arial"/>
                <a:cs typeface="Arial"/>
                <a:sym typeface="Arial"/>
              </a:rPr>
              <a:t>Attendance</a:t>
            </a:r>
            <a:r>
              <a:rPr b="1" i="0" lang="en-US" sz="5100" u="none" cap="none" strike="noStrike">
                <a:solidFill>
                  <a:srgbClr val="000000"/>
                </a:solidFill>
                <a:latin typeface="Arial"/>
                <a:ea typeface="Arial"/>
                <a:cs typeface="Arial"/>
                <a:sym typeface="Arial"/>
              </a:rPr>
              <a:t> </a:t>
            </a:r>
            <a:endParaRPr b="1" i="0" sz="5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1" i="0" sz="28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ct val="100000"/>
              <a:buFont typeface="Arial"/>
              <a:buNone/>
            </a:pPr>
            <a:r>
              <a:t/>
            </a:r>
            <a:endParaRPr b="0" i="0" sz="2000" u="none" cap="none" strike="noStrike">
              <a:solidFill>
                <a:srgbClr val="000000"/>
              </a:solidFill>
              <a:latin typeface="Arial"/>
              <a:ea typeface="Arial"/>
              <a:cs typeface="Arial"/>
              <a:sym typeface="Arial"/>
            </a:endParaRPr>
          </a:p>
        </p:txBody>
      </p:sp>
      <p:pic>
        <p:nvPicPr>
          <p:cNvPr id="146" name="Google Shape;146;g2d5b2b5e3c8_0_0"/>
          <p:cNvPicPr preferRelativeResize="0"/>
          <p:nvPr/>
        </p:nvPicPr>
        <p:blipFill rotWithShape="1">
          <a:blip r:embed="rId3">
            <a:alphaModFix/>
          </a:blip>
          <a:srcRect b="0" l="0" r="0" t="0"/>
          <a:stretch/>
        </p:blipFill>
        <p:spPr>
          <a:xfrm>
            <a:off x="481133" y="6149367"/>
            <a:ext cx="489600" cy="489600"/>
          </a:xfrm>
          <a:prstGeom prst="rect">
            <a:avLst/>
          </a:prstGeom>
          <a:solidFill>
            <a:schemeClr val="lt1"/>
          </a:solidFill>
          <a:ln>
            <a:noFill/>
          </a:ln>
        </p:spPr>
      </p:pic>
      <p:pic>
        <p:nvPicPr>
          <p:cNvPr id="147" name="Google Shape;147;g2d5b2b5e3c8_0_0"/>
          <p:cNvPicPr preferRelativeResize="0"/>
          <p:nvPr/>
        </p:nvPicPr>
        <p:blipFill rotWithShape="1">
          <a:blip r:embed="rId4">
            <a:alphaModFix/>
          </a:blip>
          <a:srcRect b="0" l="0" r="0" t="0"/>
          <a:stretch/>
        </p:blipFill>
        <p:spPr>
          <a:xfrm>
            <a:off x="2717332" y="4687900"/>
            <a:ext cx="1461966" cy="1446766"/>
          </a:xfrm>
          <a:prstGeom prst="rect">
            <a:avLst/>
          </a:prstGeom>
          <a:noFill/>
          <a:ln>
            <a:noFill/>
          </a:ln>
        </p:spPr>
      </p:pic>
      <p:sp>
        <p:nvSpPr>
          <p:cNvPr id="148" name="Google Shape;148;g2d5b2b5e3c8_0_0"/>
          <p:cNvSpPr/>
          <p:nvPr/>
        </p:nvSpPr>
        <p:spPr>
          <a:xfrm>
            <a:off x="5390033" y="0"/>
            <a:ext cx="7233300" cy="68580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49" name="Google Shape;149;g2d5b2b5e3c8_0_0"/>
          <p:cNvSpPr/>
          <p:nvPr/>
        </p:nvSpPr>
        <p:spPr>
          <a:xfrm rot="10800000">
            <a:off x="4059000" y="0"/>
            <a:ext cx="3346600" cy="6858000"/>
          </a:xfrm>
          <a:prstGeom prst="flowChartOnlineStorage">
            <a:avLst/>
          </a:prstGeom>
          <a:solidFill>
            <a:schemeClr val="accent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50" name="Google Shape;150;g2d5b2b5e3c8_0_0"/>
          <p:cNvPicPr preferRelativeResize="0"/>
          <p:nvPr/>
        </p:nvPicPr>
        <p:blipFill rotWithShape="1">
          <a:blip r:embed="rId5">
            <a:alphaModFix/>
          </a:blip>
          <a:srcRect b="0" l="0" r="0" t="0"/>
          <a:stretch/>
        </p:blipFill>
        <p:spPr>
          <a:xfrm>
            <a:off x="5085767" y="0"/>
            <a:ext cx="6858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 name="Shape 154"/>
        <p:cNvGrpSpPr/>
        <p:nvPr/>
      </p:nvGrpSpPr>
      <p:grpSpPr>
        <a:xfrm>
          <a:off x="0" y="0"/>
          <a:ext cx="0" cy="0"/>
          <a:chOff x="0" y="0"/>
          <a:chExt cx="0" cy="0"/>
        </a:xfrm>
      </p:grpSpPr>
      <p:sp>
        <p:nvSpPr>
          <p:cNvPr id="155" name="Google Shape;155;g322bdd7e328_0_0"/>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56" name="Google Shape;156;g322bdd7e328_0_0"/>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sz="5500"/>
              <a:t>What is Linux?</a:t>
            </a:r>
            <a:endParaRPr/>
          </a:p>
        </p:txBody>
      </p:sp>
      <p:sp>
        <p:nvSpPr>
          <p:cNvPr id="157" name="Google Shape;157;g322bdd7e328_0_0"/>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cap="rnd" cmpd="sng" w="44450">
            <a:solidFill>
              <a:schemeClr val="accent2">
                <a:alpha val="7372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58" name="Google Shape;158;g322bdd7e328_0_0"/>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100"/>
              </a:spcBef>
              <a:spcAft>
                <a:spcPts val="0"/>
              </a:spcAft>
              <a:buClr>
                <a:schemeClr val="dk1"/>
              </a:buClr>
              <a:buSzPts val="1100"/>
              <a:buFont typeface="Arial"/>
              <a:buNone/>
            </a:pPr>
            <a:r>
              <a:rPr b="1" lang="en-US" sz="2000"/>
              <a:t>Definition:</a:t>
            </a:r>
            <a:r>
              <a:rPr lang="en-US" sz="2000"/>
              <a:t> An open-source operating system widely used in servers and cybersecurity.</a:t>
            </a:r>
            <a:endParaRPr sz="2000"/>
          </a:p>
          <a:p>
            <a:pPr indent="0" lvl="0" marL="0" rtl="0" algn="l">
              <a:lnSpc>
                <a:spcPct val="90000"/>
              </a:lnSpc>
              <a:spcBef>
                <a:spcPts val="1100"/>
              </a:spcBef>
              <a:spcAft>
                <a:spcPts val="0"/>
              </a:spcAft>
              <a:buClr>
                <a:schemeClr val="dk1"/>
              </a:buClr>
              <a:buSzPts val="1100"/>
              <a:buFont typeface="Arial"/>
              <a:buNone/>
            </a:pPr>
            <a:r>
              <a:rPr b="1" lang="en-US" sz="2000"/>
              <a:t>Why Linux?</a:t>
            </a:r>
            <a:endParaRPr b="1" sz="2000"/>
          </a:p>
          <a:p>
            <a:pPr indent="-355600" lvl="0" marL="457200" rtl="0" algn="l">
              <a:lnSpc>
                <a:spcPct val="115000"/>
              </a:lnSpc>
              <a:spcBef>
                <a:spcPts val="1200"/>
              </a:spcBef>
              <a:spcAft>
                <a:spcPts val="0"/>
              </a:spcAft>
              <a:buSzPts val="2000"/>
              <a:buChar char="●"/>
            </a:pPr>
            <a:r>
              <a:rPr lang="en-US" sz="2000"/>
              <a:t>Lightweight and customizable.</a:t>
            </a:r>
            <a:endParaRPr sz="2000"/>
          </a:p>
          <a:p>
            <a:pPr indent="-355600" lvl="0" marL="457200" rtl="0" algn="l">
              <a:lnSpc>
                <a:spcPct val="115000"/>
              </a:lnSpc>
              <a:spcBef>
                <a:spcPts val="0"/>
              </a:spcBef>
              <a:spcAft>
                <a:spcPts val="0"/>
              </a:spcAft>
              <a:buSzPts val="2000"/>
              <a:buChar char="●"/>
            </a:pPr>
            <a:r>
              <a:rPr lang="en-US" sz="2000"/>
              <a:t>Command-line interface (CLI) is powerful for scripting and system control.</a:t>
            </a:r>
            <a:endParaRPr sz="2000"/>
          </a:p>
          <a:p>
            <a:pPr indent="-355600" lvl="0" marL="457200" rtl="0" algn="l">
              <a:lnSpc>
                <a:spcPct val="115000"/>
              </a:lnSpc>
              <a:spcBef>
                <a:spcPts val="0"/>
              </a:spcBef>
              <a:spcAft>
                <a:spcPts val="0"/>
              </a:spcAft>
              <a:buSzPts val="2000"/>
              <a:buChar char="●"/>
            </a:pPr>
            <a:r>
              <a:rPr lang="en-US" sz="2000"/>
              <a:t>Essential for ethical hacking and security.</a:t>
            </a:r>
            <a:endParaRPr sz="2000"/>
          </a:p>
          <a:p>
            <a:pPr indent="0" lvl="0" marL="0" rtl="0" algn="l">
              <a:lnSpc>
                <a:spcPct val="115000"/>
              </a:lnSpc>
              <a:spcBef>
                <a:spcPts val="1200"/>
              </a:spcBef>
              <a:spcAft>
                <a:spcPts val="0"/>
              </a:spcAft>
              <a:buClr>
                <a:schemeClr val="dk1"/>
              </a:buClr>
              <a:buSzPts val="1100"/>
              <a:buFont typeface="Arial"/>
              <a:buNone/>
            </a:pPr>
            <a:r>
              <a:rPr b="1" lang="en-US" sz="2000"/>
              <a:t>Key Features:</a:t>
            </a:r>
            <a:endParaRPr b="1" sz="2000"/>
          </a:p>
          <a:p>
            <a:pPr indent="-355600" lvl="0" marL="457200" rtl="0" algn="l">
              <a:lnSpc>
                <a:spcPct val="115000"/>
              </a:lnSpc>
              <a:spcBef>
                <a:spcPts val="1200"/>
              </a:spcBef>
              <a:spcAft>
                <a:spcPts val="0"/>
              </a:spcAft>
              <a:buSzPts val="2000"/>
              <a:buChar char="●"/>
            </a:pPr>
            <a:r>
              <a:rPr lang="en-US" sz="2000"/>
              <a:t>Multi-user system.</a:t>
            </a:r>
            <a:endParaRPr sz="2000"/>
          </a:p>
          <a:p>
            <a:pPr indent="-355600" lvl="0" marL="457200" rtl="0" algn="l">
              <a:lnSpc>
                <a:spcPct val="115000"/>
              </a:lnSpc>
              <a:spcBef>
                <a:spcPts val="0"/>
              </a:spcBef>
              <a:spcAft>
                <a:spcPts val="0"/>
              </a:spcAft>
              <a:buSzPts val="2000"/>
              <a:buChar char="●"/>
            </a:pPr>
            <a:r>
              <a:rPr lang="en-US" sz="2000"/>
              <a:t>File permissions and process management.</a:t>
            </a:r>
            <a:br>
              <a:rPr lang="en-US" sz="2000"/>
            </a:br>
            <a:r>
              <a:rPr b="1" lang="en-US" sz="2000"/>
              <a:t>Visual:</a:t>
            </a:r>
            <a:r>
              <a:rPr lang="en-US" sz="2000"/>
              <a:t> Diagram showing Linux's role in cybersecurity.</a:t>
            </a:r>
            <a:endParaRPr sz="2000"/>
          </a:p>
          <a:p>
            <a:pPr indent="0" lvl="0" marL="457200" rtl="0" algn="l">
              <a:lnSpc>
                <a:spcPct val="90000"/>
              </a:lnSpc>
              <a:spcBef>
                <a:spcPts val="1200"/>
              </a:spcBef>
              <a:spcAft>
                <a:spcPts val="0"/>
              </a:spcAft>
              <a:buSzPts val="1800"/>
              <a:buNone/>
            </a:pPr>
            <a:r>
              <a:t/>
            </a:r>
            <a:endParaRPr b="1" sz="2300"/>
          </a:p>
        </p:txBody>
      </p:sp>
      <p:pic>
        <p:nvPicPr>
          <p:cNvPr id="159" name="Google Shape;159;g322bdd7e328_0_0"/>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g322bdd7e328_0_10"/>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sz="1700">
              <a:solidFill>
                <a:srgbClr val="188038"/>
              </a:solidFill>
              <a:latin typeface="Roboto Mono"/>
              <a:ea typeface="Roboto Mono"/>
              <a:cs typeface="Roboto Mono"/>
              <a:sym typeface="Roboto Mono"/>
            </a:endParaRPr>
          </a:p>
        </p:txBody>
      </p:sp>
      <p:sp>
        <p:nvSpPr>
          <p:cNvPr id="165" name="Google Shape;165;g322bdd7e328_0_10"/>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950"/>
              <a:buFont typeface="Play"/>
              <a:buNone/>
            </a:pPr>
            <a:r>
              <a:rPr lang="en-US" sz="4150"/>
              <a:t>Introduction to the Linux Command Line</a:t>
            </a:r>
            <a:endParaRPr sz="3160"/>
          </a:p>
        </p:txBody>
      </p:sp>
      <p:sp>
        <p:nvSpPr>
          <p:cNvPr id="166" name="Google Shape;166;g322bdd7e328_0_10"/>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cap="rnd" cmpd="sng" w="44450">
            <a:solidFill>
              <a:schemeClr val="accent2">
                <a:alpha val="7372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67" name="Google Shape;167;g322bdd7e328_0_10"/>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200"/>
              </a:spcBef>
              <a:spcAft>
                <a:spcPts val="0"/>
              </a:spcAft>
              <a:buClr>
                <a:schemeClr val="dk1"/>
              </a:buClr>
              <a:buSzPts val="1100"/>
              <a:buFont typeface="Arial"/>
              <a:buNone/>
            </a:pPr>
            <a:r>
              <a:rPr b="1" lang="en-US" sz="1300"/>
              <a:t>Purpose:</a:t>
            </a:r>
            <a:r>
              <a:rPr lang="en-US" sz="1300"/>
              <a:t> Allows direct interaction with the OS for tasks like file management, system monitoring, and networking.</a:t>
            </a:r>
            <a:endParaRPr sz="1300"/>
          </a:p>
          <a:p>
            <a:pPr indent="0" lvl="0" marL="0" rtl="0" algn="l">
              <a:lnSpc>
                <a:spcPct val="90000"/>
              </a:lnSpc>
              <a:spcBef>
                <a:spcPts val="1200"/>
              </a:spcBef>
              <a:spcAft>
                <a:spcPts val="0"/>
              </a:spcAft>
              <a:buClr>
                <a:schemeClr val="dk1"/>
              </a:buClr>
              <a:buSzPts val="1100"/>
              <a:buFont typeface="Arial"/>
              <a:buNone/>
            </a:pPr>
            <a:r>
              <a:rPr b="1" lang="en-US" sz="1300"/>
              <a:t>Key Commands:</a:t>
            </a:r>
            <a:endParaRPr b="1" sz="1300"/>
          </a:p>
          <a:p>
            <a:pPr indent="-311150" lvl="0" marL="457200" rtl="0" algn="l">
              <a:lnSpc>
                <a:spcPct val="115000"/>
              </a:lnSpc>
              <a:spcBef>
                <a:spcPts val="1200"/>
              </a:spcBef>
              <a:spcAft>
                <a:spcPts val="0"/>
              </a:spcAft>
              <a:buSzPts val="1300"/>
              <a:buChar char="●"/>
            </a:pPr>
            <a:r>
              <a:rPr lang="en-US" sz="1300">
                <a:solidFill>
                  <a:srgbClr val="188038"/>
                </a:solidFill>
                <a:latin typeface="Roboto Mono"/>
                <a:ea typeface="Roboto Mono"/>
                <a:cs typeface="Roboto Mono"/>
                <a:sym typeface="Roboto Mono"/>
              </a:rPr>
              <a:t>ls</a:t>
            </a:r>
            <a:r>
              <a:rPr lang="en-US" sz="1300"/>
              <a:t> – List directory contents.</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cd</a:t>
            </a:r>
            <a:r>
              <a:rPr lang="en-US" sz="1300"/>
              <a:t> – Change directory.</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pwd</a:t>
            </a:r>
            <a:r>
              <a:rPr lang="en-US" sz="1300"/>
              <a:t> – Print working directory.</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chmod</a:t>
            </a:r>
            <a:r>
              <a:rPr lang="en-US" sz="1300"/>
              <a:t> – Change file permissions.</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cat</a:t>
            </a:r>
            <a:r>
              <a:rPr lang="en-US" sz="1300"/>
              <a:t> – View file contents.</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mkdir</a:t>
            </a:r>
            <a:r>
              <a:rPr lang="en-US" sz="1300"/>
              <a:t> – Create a directory.</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rmdir </a:t>
            </a:r>
            <a:r>
              <a:rPr lang="en-US" sz="1300"/>
              <a:t>– Remove an empty directory.</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rm </a:t>
            </a:r>
            <a:r>
              <a:rPr lang="en-US" sz="1300"/>
              <a:t>– Remove files or directories.</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touch </a:t>
            </a:r>
            <a:r>
              <a:rPr lang="en-US" sz="1300"/>
              <a:t>– Create an empty file.</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cp</a:t>
            </a:r>
            <a:r>
              <a:rPr lang="en-US" sz="1300"/>
              <a:t> – Copy files or directories.</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mv</a:t>
            </a:r>
            <a:r>
              <a:rPr lang="en-US" sz="1300"/>
              <a:t> – Move or rename files or directories.</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find</a:t>
            </a:r>
            <a:r>
              <a:rPr lang="en-US" sz="1300"/>
              <a:t> – Search for files in a directory hierarchy.</a:t>
            </a:r>
            <a:endParaRPr sz="1300"/>
          </a:p>
          <a:p>
            <a:pPr indent="-311150" lvl="0" marL="457200" rtl="0" algn="l">
              <a:lnSpc>
                <a:spcPct val="115000"/>
              </a:lnSpc>
              <a:spcBef>
                <a:spcPts val="0"/>
              </a:spcBef>
              <a:spcAft>
                <a:spcPts val="0"/>
              </a:spcAft>
              <a:buSzPts val="1300"/>
              <a:buChar char="●"/>
            </a:pPr>
            <a:r>
              <a:rPr lang="en-US" sz="1300">
                <a:solidFill>
                  <a:srgbClr val="188038"/>
                </a:solidFill>
                <a:latin typeface="Roboto Mono"/>
                <a:ea typeface="Roboto Mono"/>
                <a:cs typeface="Roboto Mono"/>
                <a:sym typeface="Roboto Mono"/>
              </a:rPr>
              <a:t>grep</a:t>
            </a:r>
            <a:r>
              <a:rPr lang="en-US" sz="1300"/>
              <a:t> – Search for specific patterns in files.</a:t>
            </a:r>
            <a:endParaRPr sz="1300"/>
          </a:p>
          <a:p>
            <a:pPr indent="0" lvl="0" marL="0" rtl="0" algn="l">
              <a:lnSpc>
                <a:spcPct val="115000"/>
              </a:lnSpc>
              <a:spcBef>
                <a:spcPts val="1200"/>
              </a:spcBef>
              <a:spcAft>
                <a:spcPts val="0"/>
              </a:spcAft>
              <a:buClr>
                <a:schemeClr val="dk1"/>
              </a:buClr>
              <a:buSzPts val="1100"/>
              <a:buFont typeface="Arial"/>
              <a:buNone/>
            </a:pPr>
            <a:r>
              <a:rPr b="1" lang="en-US" sz="1300"/>
              <a:t>Importance in Cybersecurity:</a:t>
            </a:r>
            <a:endParaRPr b="1" sz="1300"/>
          </a:p>
          <a:p>
            <a:pPr indent="-311150" lvl="0" marL="457200" rtl="0" algn="l">
              <a:lnSpc>
                <a:spcPct val="115000"/>
              </a:lnSpc>
              <a:spcBef>
                <a:spcPts val="1200"/>
              </a:spcBef>
              <a:spcAft>
                <a:spcPts val="0"/>
              </a:spcAft>
              <a:buSzPts val="1300"/>
              <a:buChar char="●"/>
            </a:pPr>
            <a:r>
              <a:rPr lang="en-US" sz="1300"/>
              <a:t>Inspecting logs, managing access, testing vulnerabilities.</a:t>
            </a:r>
            <a:endParaRPr sz="1300"/>
          </a:p>
          <a:p>
            <a:pPr indent="0" lvl="0" marL="457200" rtl="0" algn="l">
              <a:lnSpc>
                <a:spcPct val="90000"/>
              </a:lnSpc>
              <a:spcBef>
                <a:spcPts val="1200"/>
              </a:spcBef>
              <a:spcAft>
                <a:spcPts val="0"/>
              </a:spcAft>
              <a:buSzPts val="1800"/>
              <a:buNone/>
            </a:pPr>
            <a:r>
              <a:t/>
            </a:r>
            <a:endParaRPr b="1" sz="1900"/>
          </a:p>
        </p:txBody>
      </p:sp>
      <p:pic>
        <p:nvPicPr>
          <p:cNvPr id="168" name="Google Shape;168;g322bdd7e328_0_10"/>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2" name="Shape 172"/>
        <p:cNvGrpSpPr/>
        <p:nvPr/>
      </p:nvGrpSpPr>
      <p:grpSpPr>
        <a:xfrm>
          <a:off x="0" y="0"/>
          <a:ext cx="0" cy="0"/>
          <a:chOff x="0" y="0"/>
          <a:chExt cx="0" cy="0"/>
        </a:xfrm>
      </p:grpSpPr>
      <p:sp>
        <p:nvSpPr>
          <p:cNvPr id="173" name="Google Shape;173;g322bdd7e328_0_18"/>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74" name="Google Shape;174;g322bdd7e328_0_18"/>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sz="5500"/>
              <a:t>TryHackMe</a:t>
            </a:r>
            <a:endParaRPr/>
          </a:p>
        </p:txBody>
      </p:sp>
      <p:sp>
        <p:nvSpPr>
          <p:cNvPr id="175" name="Google Shape;175;g322bdd7e328_0_18"/>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cap="rnd" cmpd="sng" w="44450">
            <a:solidFill>
              <a:schemeClr val="accent2">
                <a:alpha val="7372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76" name="Google Shape;176;g322bdd7e328_0_18"/>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SzPts val="1800"/>
              <a:buNone/>
            </a:pPr>
            <a:r>
              <a:rPr b="1" lang="en-US" sz="2000"/>
              <a:t>Platform:</a:t>
            </a:r>
            <a:r>
              <a:rPr lang="en-US" sz="2000"/>
              <a:t> TryHackMe</a:t>
            </a:r>
            <a:endParaRPr sz="2000"/>
          </a:p>
          <a:p>
            <a:pPr indent="-355600" lvl="0" marL="457200" rtl="0" algn="l">
              <a:lnSpc>
                <a:spcPct val="115000"/>
              </a:lnSpc>
              <a:spcBef>
                <a:spcPts val="1200"/>
              </a:spcBef>
              <a:spcAft>
                <a:spcPts val="0"/>
              </a:spcAft>
              <a:buSzPts val="2000"/>
              <a:buChar char="●"/>
            </a:pPr>
            <a:r>
              <a:rPr b="1" lang="en-US" sz="2000"/>
              <a:t>Room:</a:t>
            </a:r>
            <a:r>
              <a:rPr lang="en-US" sz="2000"/>
              <a:t> </a:t>
            </a:r>
            <a:r>
              <a:rPr lang="en-US" sz="2000" u="sng">
                <a:solidFill>
                  <a:schemeClr val="hlink"/>
                </a:solidFill>
                <a:hlinkClick r:id="rId3"/>
              </a:rPr>
              <a:t>https://tryhackme.com/r/room/linuxfundamentalspart1</a:t>
            </a:r>
            <a:endParaRPr sz="2000"/>
          </a:p>
          <a:p>
            <a:pPr indent="-355600" lvl="0" marL="457200" rtl="0" algn="l">
              <a:lnSpc>
                <a:spcPct val="115000"/>
              </a:lnSpc>
              <a:spcBef>
                <a:spcPts val="0"/>
              </a:spcBef>
              <a:spcAft>
                <a:spcPts val="0"/>
              </a:spcAft>
              <a:buSzPts val="2000"/>
              <a:buChar char="●"/>
            </a:pPr>
            <a:r>
              <a:rPr b="1" lang="en-US" sz="2000"/>
              <a:t>Activity</a:t>
            </a:r>
            <a:r>
              <a:rPr b="1" lang="en-US" sz="2000"/>
              <a:t>:</a:t>
            </a:r>
            <a:r>
              <a:rPr lang="en-US" sz="2000"/>
              <a:t> Basic commands, navigating the file system, understanding permissions.</a:t>
            </a:r>
            <a:endParaRPr sz="2000"/>
          </a:p>
          <a:p>
            <a:pPr indent="-355600" lvl="0" marL="457200" rtl="0" algn="l">
              <a:lnSpc>
                <a:spcPct val="115000"/>
              </a:lnSpc>
              <a:spcBef>
                <a:spcPts val="0"/>
              </a:spcBef>
              <a:spcAft>
                <a:spcPts val="0"/>
              </a:spcAft>
              <a:buSzPts val="2000"/>
              <a:buChar char="●"/>
            </a:pPr>
            <a:r>
              <a:rPr b="1" lang="en-US" sz="2000"/>
              <a:t>Steps:</a:t>
            </a:r>
            <a:endParaRPr b="1" sz="2000"/>
          </a:p>
          <a:p>
            <a:pPr indent="-355600" lvl="1" marL="914400" rtl="0" algn="l">
              <a:lnSpc>
                <a:spcPct val="115000"/>
              </a:lnSpc>
              <a:spcBef>
                <a:spcPts val="0"/>
              </a:spcBef>
              <a:spcAft>
                <a:spcPts val="0"/>
              </a:spcAft>
              <a:buSzPts val="2000"/>
              <a:buAutoNum type="arabicPeriod"/>
            </a:pPr>
            <a:r>
              <a:rPr lang="en-US" sz="2000"/>
              <a:t>Follow instructor guidance for the first sections.</a:t>
            </a:r>
            <a:endParaRPr sz="2000"/>
          </a:p>
          <a:p>
            <a:pPr indent="-355600" lvl="1" marL="914400" rtl="0" algn="l">
              <a:lnSpc>
                <a:spcPct val="115000"/>
              </a:lnSpc>
              <a:spcBef>
                <a:spcPts val="0"/>
              </a:spcBef>
              <a:spcAft>
                <a:spcPts val="0"/>
              </a:spcAft>
              <a:buSzPts val="2000"/>
              <a:buAutoNum type="arabicPeriod"/>
            </a:pPr>
            <a:r>
              <a:rPr lang="en-US" sz="2000"/>
              <a:t>Spend 15-20 minutes completing tasks independently.</a:t>
            </a:r>
            <a:endParaRPr sz="2000"/>
          </a:p>
          <a:p>
            <a:pPr indent="-355600" lvl="1" marL="914400" rtl="0" algn="l">
              <a:lnSpc>
                <a:spcPct val="115000"/>
              </a:lnSpc>
              <a:spcBef>
                <a:spcPts val="0"/>
              </a:spcBef>
              <a:spcAft>
                <a:spcPts val="0"/>
              </a:spcAft>
              <a:buSzPts val="2000"/>
              <a:buAutoNum type="arabicPeriod"/>
            </a:pPr>
            <a:r>
              <a:rPr lang="en-US" sz="2000"/>
              <a:t>Share progress and challenges with the group.</a:t>
            </a:r>
            <a:endParaRPr b="1" sz="2300"/>
          </a:p>
          <a:p>
            <a:pPr indent="0" lvl="0" marL="457200" rtl="0" algn="l">
              <a:lnSpc>
                <a:spcPct val="90000"/>
              </a:lnSpc>
              <a:spcBef>
                <a:spcPts val="1200"/>
              </a:spcBef>
              <a:spcAft>
                <a:spcPts val="0"/>
              </a:spcAft>
              <a:buSzPts val="1800"/>
              <a:buNone/>
            </a:pPr>
            <a:r>
              <a:t/>
            </a:r>
            <a:endParaRPr b="1" sz="2400"/>
          </a:p>
        </p:txBody>
      </p:sp>
      <p:pic>
        <p:nvPicPr>
          <p:cNvPr id="177" name="Google Shape;177;g322bdd7e328_0_18"/>
          <p:cNvPicPr preferRelativeResize="0"/>
          <p:nvPr/>
        </p:nvPicPr>
        <p:blipFill rotWithShape="1">
          <a:blip r:embed="rId4">
            <a:alphaModFix/>
          </a:blip>
          <a:srcRect b="0" l="0" r="0" t="0"/>
          <a:stretch/>
        </p:blipFill>
        <p:spPr>
          <a:xfrm>
            <a:off x="10173375" y="0"/>
            <a:ext cx="2015925" cy="2015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g322bdd7e328_0_26"/>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83" name="Google Shape;183;g322bdd7e328_0_26"/>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sz="5500"/>
              <a:t>Interactive Activity: File System Scavenger Hunt</a:t>
            </a:r>
            <a:endParaRPr/>
          </a:p>
        </p:txBody>
      </p:sp>
      <p:sp>
        <p:nvSpPr>
          <p:cNvPr id="184" name="Google Shape;184;g322bdd7e328_0_2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cap="rnd" cmpd="sng" w="44450">
            <a:solidFill>
              <a:schemeClr val="accent2">
                <a:alpha val="7372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85" name="Google Shape;185;g322bdd7e328_0_26"/>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200"/>
              </a:spcBef>
              <a:spcAft>
                <a:spcPts val="0"/>
              </a:spcAft>
              <a:buClr>
                <a:schemeClr val="dk1"/>
              </a:buClr>
              <a:buSzPts val="1100"/>
              <a:buFont typeface="Arial"/>
              <a:buNone/>
            </a:pPr>
            <a:r>
              <a:rPr b="1" lang="en-US" sz="1700"/>
              <a:t>Objective:</a:t>
            </a:r>
            <a:r>
              <a:rPr lang="en-US" sz="1700"/>
              <a:t> Apply Linux commands to explore a simulated file system and complete challenges.</a:t>
            </a:r>
            <a:endParaRPr sz="1700"/>
          </a:p>
          <a:p>
            <a:pPr indent="0" lvl="0" marL="0" rtl="0" algn="l">
              <a:lnSpc>
                <a:spcPct val="90000"/>
              </a:lnSpc>
              <a:spcBef>
                <a:spcPts val="1200"/>
              </a:spcBef>
              <a:spcAft>
                <a:spcPts val="0"/>
              </a:spcAft>
              <a:buClr>
                <a:schemeClr val="dk1"/>
              </a:buClr>
              <a:buSzPts val="1100"/>
              <a:buFont typeface="Arial"/>
              <a:buNone/>
            </a:pPr>
            <a:r>
              <a:rPr b="1" lang="en-US" sz="1700"/>
              <a:t>Setup:</a:t>
            </a:r>
            <a:endParaRPr b="1" sz="1700"/>
          </a:p>
          <a:p>
            <a:pPr indent="-336550" lvl="0" marL="457200" rtl="0" algn="l">
              <a:lnSpc>
                <a:spcPct val="115000"/>
              </a:lnSpc>
              <a:spcBef>
                <a:spcPts val="0"/>
              </a:spcBef>
              <a:spcAft>
                <a:spcPts val="0"/>
              </a:spcAft>
              <a:buSzPts val="1700"/>
              <a:buChar char="●"/>
            </a:pPr>
            <a:r>
              <a:rPr lang="en-US" sz="1700"/>
              <a:t>Make a replit account</a:t>
            </a:r>
            <a:endParaRPr sz="1700"/>
          </a:p>
          <a:p>
            <a:pPr indent="-336550" lvl="0" marL="457200" rtl="0" algn="l">
              <a:lnSpc>
                <a:spcPct val="115000"/>
              </a:lnSpc>
              <a:spcBef>
                <a:spcPts val="0"/>
              </a:spcBef>
              <a:spcAft>
                <a:spcPts val="0"/>
              </a:spcAft>
              <a:buSzPts val="1700"/>
              <a:buChar char="●"/>
            </a:pPr>
            <a:r>
              <a:rPr lang="en-US" sz="1700"/>
              <a:t>Go to this link </a:t>
            </a:r>
            <a:r>
              <a:rPr lang="en-US" sz="1700" u="sng">
                <a:solidFill>
                  <a:schemeClr val="hlink"/>
                </a:solidFill>
                <a:hlinkClick r:id="rId3"/>
              </a:rPr>
              <a:t>https://replit.com/@jjosephe1216/Linux-Fundamentals-Activity</a:t>
            </a:r>
            <a:endParaRPr sz="1700"/>
          </a:p>
          <a:p>
            <a:pPr indent="0" lvl="0" marL="0" rtl="0" algn="l">
              <a:lnSpc>
                <a:spcPct val="115000"/>
              </a:lnSpc>
              <a:spcBef>
                <a:spcPts val="1200"/>
              </a:spcBef>
              <a:spcAft>
                <a:spcPts val="0"/>
              </a:spcAft>
              <a:buClr>
                <a:schemeClr val="dk1"/>
              </a:buClr>
              <a:buSzPts val="1100"/>
              <a:buFont typeface="Arial"/>
              <a:buNone/>
            </a:pPr>
            <a:r>
              <a:rPr b="1" lang="en-US" sz="1700"/>
              <a:t>Tasks:</a:t>
            </a:r>
            <a:endParaRPr b="1" sz="1700"/>
          </a:p>
          <a:p>
            <a:pPr indent="0" lvl="0" marL="0" rtl="0" algn="l">
              <a:lnSpc>
                <a:spcPct val="115000"/>
              </a:lnSpc>
              <a:spcBef>
                <a:spcPts val="0"/>
              </a:spcBef>
              <a:spcAft>
                <a:spcPts val="0"/>
              </a:spcAft>
              <a:buNone/>
            </a:pPr>
            <a:r>
              <a:rPr b="1" lang="en-US" sz="1500"/>
              <a:t>Task 1:</a:t>
            </a:r>
            <a:r>
              <a:rPr lang="en-US" sz="1500"/>
              <a:t> Navigate to the </a:t>
            </a:r>
            <a:r>
              <a:rPr lang="en-US" sz="1500">
                <a:solidFill>
                  <a:srgbClr val="188038"/>
                </a:solidFill>
                <a:latin typeface="Roboto Mono"/>
                <a:ea typeface="Roboto Mono"/>
                <a:cs typeface="Roboto Mono"/>
                <a:sym typeface="Roboto Mono"/>
              </a:rPr>
              <a:t>challenge/secrets</a:t>
            </a:r>
            <a:r>
              <a:rPr lang="en-US" sz="1500"/>
              <a:t> directory. What files do you see?</a:t>
            </a:r>
            <a:endParaRPr sz="1500"/>
          </a:p>
          <a:p>
            <a:pPr indent="0" lvl="0" marL="0" rtl="0" algn="l">
              <a:lnSpc>
                <a:spcPct val="115000"/>
              </a:lnSpc>
              <a:spcBef>
                <a:spcPts val="0"/>
              </a:spcBef>
              <a:spcAft>
                <a:spcPts val="0"/>
              </a:spcAft>
              <a:buNone/>
            </a:pPr>
            <a:r>
              <a:rPr b="1" lang="en-US" sz="1500"/>
              <a:t>Task 2:</a:t>
            </a:r>
            <a:r>
              <a:rPr lang="en-US" sz="1500"/>
              <a:t> Read the contents of </a:t>
            </a:r>
            <a:r>
              <a:rPr lang="en-US" sz="1500">
                <a:solidFill>
                  <a:srgbClr val="188038"/>
                </a:solidFill>
                <a:latin typeface="Roboto Mono"/>
                <a:ea typeface="Roboto Mono"/>
                <a:cs typeface="Roboto Mono"/>
                <a:sym typeface="Roboto Mono"/>
              </a:rPr>
              <a:t>key.txt</a:t>
            </a:r>
            <a:r>
              <a:rPr lang="en-US" sz="1500"/>
              <a:t> using a command.</a:t>
            </a:r>
            <a:endParaRPr sz="1500"/>
          </a:p>
          <a:p>
            <a:pPr indent="0" lvl="0" marL="0" rtl="0" algn="l">
              <a:lnSpc>
                <a:spcPct val="115000"/>
              </a:lnSpc>
              <a:spcBef>
                <a:spcPts val="0"/>
              </a:spcBef>
              <a:spcAft>
                <a:spcPts val="0"/>
              </a:spcAft>
              <a:buNone/>
            </a:pPr>
            <a:r>
              <a:rPr b="1" lang="en-US" sz="1500"/>
              <a:t>Task 3:</a:t>
            </a:r>
            <a:r>
              <a:rPr lang="en-US" sz="1500"/>
              <a:t> Change permissions for </a:t>
            </a:r>
            <a:r>
              <a:rPr lang="en-US" sz="1500">
                <a:solidFill>
                  <a:srgbClr val="188038"/>
                </a:solidFill>
                <a:latin typeface="Roboto Mono"/>
                <a:ea typeface="Roboto Mono"/>
                <a:cs typeface="Roboto Mono"/>
                <a:sym typeface="Roboto Mono"/>
              </a:rPr>
              <a:t>password.doc</a:t>
            </a:r>
            <a:r>
              <a:rPr lang="en-US" sz="1500"/>
              <a:t> so others can read it.</a:t>
            </a:r>
            <a:endParaRPr sz="1500"/>
          </a:p>
          <a:p>
            <a:pPr indent="0" lvl="0" marL="0" rtl="0" algn="l">
              <a:lnSpc>
                <a:spcPct val="115000"/>
              </a:lnSpc>
              <a:spcBef>
                <a:spcPts val="0"/>
              </a:spcBef>
              <a:spcAft>
                <a:spcPts val="0"/>
              </a:spcAft>
              <a:buNone/>
            </a:pPr>
            <a:r>
              <a:rPr b="1" lang="en-US" sz="1500"/>
              <a:t>Task 4:</a:t>
            </a:r>
            <a:r>
              <a:rPr lang="en-US" sz="1500"/>
              <a:t> Find the hidden file in the </a:t>
            </a:r>
            <a:r>
              <a:rPr lang="en-US" sz="1500">
                <a:solidFill>
                  <a:srgbClr val="188038"/>
                </a:solidFill>
                <a:latin typeface="Roboto Mono"/>
                <a:ea typeface="Roboto Mono"/>
                <a:cs typeface="Roboto Mono"/>
                <a:sym typeface="Roboto Mono"/>
              </a:rPr>
              <a:t>challenge</a:t>
            </a:r>
            <a:r>
              <a:rPr lang="en-US" sz="1500"/>
              <a:t> directory.</a:t>
            </a:r>
            <a:endParaRPr sz="1500"/>
          </a:p>
          <a:p>
            <a:pPr indent="0" lvl="0" marL="0" rtl="0" algn="l">
              <a:lnSpc>
                <a:spcPct val="115000"/>
              </a:lnSpc>
              <a:spcBef>
                <a:spcPts val="0"/>
              </a:spcBef>
              <a:spcAft>
                <a:spcPts val="0"/>
              </a:spcAft>
              <a:buNone/>
            </a:pPr>
            <a:r>
              <a:rPr b="1" lang="en-US" sz="1500"/>
              <a:t>Task 5:</a:t>
            </a:r>
            <a:r>
              <a:rPr lang="en-US" sz="1500"/>
              <a:t> Search for "ERROR" in the </a:t>
            </a:r>
            <a:r>
              <a:rPr lang="en-US" sz="1500">
                <a:solidFill>
                  <a:srgbClr val="188038"/>
                </a:solidFill>
                <a:latin typeface="Roboto Mono"/>
                <a:ea typeface="Roboto Mono"/>
                <a:cs typeface="Roboto Mono"/>
                <a:sym typeface="Roboto Mono"/>
              </a:rPr>
              <a:t>access.log</a:t>
            </a:r>
            <a:r>
              <a:rPr lang="en-US" sz="1500"/>
              <a:t>.</a:t>
            </a:r>
            <a:endParaRPr b="1" sz="3372"/>
          </a:p>
        </p:txBody>
      </p:sp>
      <p:pic>
        <p:nvPicPr>
          <p:cNvPr id="186" name="Google Shape;186;g322bdd7e328_0_26"/>
          <p:cNvPicPr preferRelativeResize="0"/>
          <p:nvPr/>
        </p:nvPicPr>
        <p:blipFill rotWithShape="1">
          <a:blip r:embed="rId4">
            <a:alphaModFix/>
          </a:blip>
          <a:srcRect b="0" l="0" r="0" t="0"/>
          <a:stretch/>
        </p:blipFill>
        <p:spPr>
          <a:xfrm>
            <a:off x="10173375" y="0"/>
            <a:ext cx="2015925" cy="2015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g322bdd7e328_0_40"/>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92" name="Google Shape;192;g322bdd7e328_0_40"/>
          <p:cNvSpPr txBox="1"/>
          <p:nvPr>
            <p:ph type="title"/>
          </p:nvPr>
        </p:nvSpPr>
        <p:spPr>
          <a:xfrm>
            <a:off x="572493" y="238539"/>
            <a:ext cx="11018400" cy="1434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sz="5500"/>
              <a:t>Debrief and Key Takeaways</a:t>
            </a:r>
            <a:endParaRPr/>
          </a:p>
        </p:txBody>
      </p:sp>
      <p:sp>
        <p:nvSpPr>
          <p:cNvPr id="193" name="Google Shape;193;g322bdd7e328_0_40"/>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725"/>
            </a:schemeClr>
          </a:solidFill>
          <a:ln cap="rnd" cmpd="sng" w="44450">
            <a:solidFill>
              <a:schemeClr val="accent2">
                <a:alpha val="73725"/>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194" name="Google Shape;194;g322bdd7e328_0_40"/>
          <p:cNvSpPr txBox="1"/>
          <p:nvPr>
            <p:ph idx="1" type="body"/>
          </p:nvPr>
        </p:nvSpPr>
        <p:spPr>
          <a:xfrm>
            <a:off x="572500" y="2071300"/>
            <a:ext cx="10922400" cy="41193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SzPts val="1800"/>
              <a:buNone/>
            </a:pPr>
            <a:r>
              <a:rPr b="1" lang="en-US" sz="2300"/>
              <a:t>Key Learnings:</a:t>
            </a:r>
            <a:endParaRPr b="1" sz="2300"/>
          </a:p>
          <a:p>
            <a:pPr indent="-374650" lvl="0" marL="457200" rtl="0" algn="l">
              <a:lnSpc>
                <a:spcPct val="115000"/>
              </a:lnSpc>
              <a:spcBef>
                <a:spcPts val="1200"/>
              </a:spcBef>
              <a:spcAft>
                <a:spcPts val="0"/>
              </a:spcAft>
              <a:buSzPts val="2300"/>
              <a:buChar char="●"/>
            </a:pPr>
            <a:r>
              <a:rPr lang="en-US" sz="2300"/>
              <a:t>Mastering basic Linux commands is essential for cybersecurity tasks.</a:t>
            </a:r>
            <a:endParaRPr sz="2300"/>
          </a:p>
          <a:p>
            <a:pPr indent="-374650" lvl="0" marL="457200" rtl="0" algn="l">
              <a:lnSpc>
                <a:spcPct val="115000"/>
              </a:lnSpc>
              <a:spcBef>
                <a:spcPts val="0"/>
              </a:spcBef>
              <a:spcAft>
                <a:spcPts val="0"/>
              </a:spcAft>
              <a:buSzPts val="2300"/>
              <a:buChar char="●"/>
            </a:pPr>
            <a:r>
              <a:rPr lang="en-US" sz="2300"/>
              <a:t>Permissions and file management ensure system security.</a:t>
            </a:r>
            <a:endParaRPr sz="2300"/>
          </a:p>
          <a:p>
            <a:pPr indent="0" lvl="0" marL="0" rtl="0" algn="l">
              <a:lnSpc>
                <a:spcPct val="115000"/>
              </a:lnSpc>
              <a:spcBef>
                <a:spcPts val="1200"/>
              </a:spcBef>
              <a:spcAft>
                <a:spcPts val="0"/>
              </a:spcAft>
              <a:buSzPts val="1800"/>
              <a:buNone/>
            </a:pPr>
            <a:r>
              <a:rPr b="1" lang="en-US" sz="2300"/>
              <a:t>Next Steps:</a:t>
            </a:r>
            <a:endParaRPr b="1" sz="2300"/>
          </a:p>
          <a:p>
            <a:pPr indent="-374650" lvl="0" marL="457200" rtl="0" algn="l">
              <a:lnSpc>
                <a:spcPct val="115000"/>
              </a:lnSpc>
              <a:spcBef>
                <a:spcPts val="1200"/>
              </a:spcBef>
              <a:spcAft>
                <a:spcPts val="0"/>
              </a:spcAft>
              <a:buSzPts val="2300"/>
              <a:buChar char="●"/>
            </a:pPr>
            <a:r>
              <a:rPr lang="en-US" sz="2300"/>
              <a:t>Explore more Linux commands on TryHackMe or through self-practice.</a:t>
            </a:r>
            <a:endParaRPr sz="2300"/>
          </a:p>
          <a:p>
            <a:pPr indent="0" lvl="0" marL="0" rtl="0" algn="l">
              <a:lnSpc>
                <a:spcPct val="115000"/>
              </a:lnSpc>
              <a:spcBef>
                <a:spcPts val="1200"/>
              </a:spcBef>
              <a:spcAft>
                <a:spcPts val="0"/>
              </a:spcAft>
              <a:buSzPts val="1800"/>
              <a:buNone/>
            </a:pPr>
            <a:r>
              <a:rPr b="1" lang="en-US" sz="2300"/>
              <a:t>Real-World Application:</a:t>
            </a:r>
            <a:r>
              <a:rPr lang="en-US" sz="2300"/>
              <a:t> Using Linux in penetration testing and server management.</a:t>
            </a:r>
            <a:br>
              <a:rPr lang="en-US" sz="2300"/>
            </a:br>
            <a:r>
              <a:rPr b="1" lang="en-US" sz="2300"/>
              <a:t>Visual:</a:t>
            </a:r>
            <a:r>
              <a:rPr lang="en-US" sz="2300"/>
              <a:t> Checklist or summary graphic.</a:t>
            </a:r>
            <a:endParaRPr b="1" sz="3500"/>
          </a:p>
          <a:p>
            <a:pPr indent="0" lvl="0" marL="457200" rtl="0" algn="l">
              <a:lnSpc>
                <a:spcPct val="90000"/>
              </a:lnSpc>
              <a:spcBef>
                <a:spcPts val="1200"/>
              </a:spcBef>
              <a:spcAft>
                <a:spcPts val="0"/>
              </a:spcAft>
              <a:buSzPts val="1800"/>
              <a:buNone/>
            </a:pPr>
            <a:r>
              <a:t/>
            </a:r>
            <a:endParaRPr b="1" sz="2400"/>
          </a:p>
        </p:txBody>
      </p:sp>
      <p:pic>
        <p:nvPicPr>
          <p:cNvPr id="195" name="Google Shape;195;g322bdd7e328_0_40"/>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 name="Shape 199"/>
        <p:cNvGrpSpPr/>
        <p:nvPr/>
      </p:nvGrpSpPr>
      <p:grpSpPr>
        <a:xfrm>
          <a:off x="0" y="0"/>
          <a:ext cx="0" cy="0"/>
          <a:chOff x="0" y="0"/>
          <a:chExt cx="0" cy="0"/>
        </a:xfrm>
      </p:grpSpPr>
      <p:sp>
        <p:nvSpPr>
          <p:cNvPr id="200" name="Google Shape;200;g2d5b2b5e3c8_0_148"/>
          <p:cNvSpPr/>
          <p:nvPr/>
        </p:nvSpPr>
        <p:spPr>
          <a:xfrm>
            <a:off x="0" y="0"/>
            <a:ext cx="121893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Arial"/>
              <a:ea typeface="Arial"/>
              <a:cs typeface="Arial"/>
              <a:sym typeface="Arial"/>
            </a:endParaRPr>
          </a:p>
        </p:txBody>
      </p:sp>
      <p:sp>
        <p:nvSpPr>
          <p:cNvPr id="201" name="Google Shape;201;g2d5b2b5e3c8_0_148"/>
          <p:cNvSpPr txBox="1"/>
          <p:nvPr>
            <p:ph idx="4294967295" type="title"/>
          </p:nvPr>
        </p:nvSpPr>
        <p:spPr>
          <a:xfrm>
            <a:off x="4024800" y="2567800"/>
            <a:ext cx="4142400" cy="8613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500"/>
              <a:buFont typeface="Play"/>
              <a:buNone/>
            </a:pPr>
            <a:r>
              <a:rPr lang="en-US" sz="5500"/>
              <a:t>Q&amp;A Session</a:t>
            </a:r>
            <a:endParaRPr/>
          </a:p>
        </p:txBody>
      </p:sp>
      <p:pic>
        <p:nvPicPr>
          <p:cNvPr id="202" name="Google Shape;202;g2d5b2b5e3c8_0_148"/>
          <p:cNvPicPr preferRelativeResize="0"/>
          <p:nvPr/>
        </p:nvPicPr>
        <p:blipFill rotWithShape="1">
          <a:blip r:embed="rId3">
            <a:alphaModFix/>
          </a:blip>
          <a:srcRect b="0" l="0" r="0" t="0"/>
          <a:stretch/>
        </p:blipFill>
        <p:spPr>
          <a:xfrm>
            <a:off x="10173375" y="0"/>
            <a:ext cx="2015925" cy="2015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g311fd835375_0_49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09" name="Google Shape;209;g311fd835375_0_498"/>
          <p:cNvSpPr/>
          <p:nvPr/>
        </p:nvSpPr>
        <p:spPr>
          <a:xfrm>
            <a:off x="0" y="0"/>
            <a:ext cx="4890600" cy="685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0" name="Google Shape;210;g311fd835375_0_498"/>
          <p:cNvSpPr txBox="1"/>
          <p:nvPr>
            <p:ph type="title"/>
          </p:nvPr>
        </p:nvSpPr>
        <p:spPr>
          <a:xfrm>
            <a:off x="840150" y="3367775"/>
            <a:ext cx="3200400" cy="1154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Play"/>
              <a:buNone/>
            </a:pPr>
            <a:r>
              <a:rPr lang="en-US">
                <a:solidFill>
                  <a:schemeClr val="lt1"/>
                </a:solidFill>
              </a:rPr>
              <a:t>Attendance</a:t>
            </a:r>
            <a:endParaRPr>
              <a:solidFill>
                <a:schemeClr val="lt1"/>
              </a:solidFill>
            </a:endParaRPr>
          </a:p>
        </p:txBody>
      </p:sp>
      <p:grpSp>
        <p:nvGrpSpPr>
          <p:cNvPr id="211" name="Google Shape;211;g311fd835375_0_498"/>
          <p:cNvGrpSpPr/>
          <p:nvPr/>
        </p:nvGrpSpPr>
        <p:grpSpPr>
          <a:xfrm>
            <a:off x="75" y="202996"/>
            <a:ext cx="1910317" cy="709685"/>
            <a:chOff x="2267504" y="2540250"/>
            <a:chExt cx="1990951" cy="739640"/>
          </a:xfrm>
        </p:grpSpPr>
        <p:sp>
          <p:nvSpPr>
            <p:cNvPr id="212" name="Google Shape;212;g311fd835375_0_498"/>
            <p:cNvSpPr/>
            <p:nvPr/>
          </p:nvSpPr>
          <p:spPr>
            <a:xfrm>
              <a:off x="2267504" y="254025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3" name="Google Shape;213;g311fd835375_0_498"/>
            <p:cNvSpPr/>
            <p:nvPr/>
          </p:nvSpPr>
          <p:spPr>
            <a:xfrm>
              <a:off x="2267504" y="2993660"/>
              <a:ext cx="1990951" cy="286230"/>
            </a:xfrm>
            <a:custGeom>
              <a:rect b="b" l="l" r="r" t="t"/>
              <a:pathLst>
                <a:path extrusionOk="0" h="286230" w="1990951">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14" name="Google Shape;214;g311fd835375_0_498"/>
          <p:cNvSpPr/>
          <p:nvPr/>
        </p:nvSpPr>
        <p:spPr>
          <a:xfrm>
            <a:off x="406260" y="4752208"/>
            <a:ext cx="365100" cy="365100"/>
          </a:xfrm>
          <a:prstGeom prst="ellipse">
            <a:avLst/>
          </a:prstGeom>
          <a:solidFill>
            <a:srgbClr val="FFFFFF"/>
          </a:solidFill>
          <a:ln cap="flat" cmpd="sng" w="2857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15" name="Google Shape;215;g311fd835375_0_498"/>
          <p:cNvSpPr/>
          <p:nvPr/>
        </p:nvSpPr>
        <p:spPr>
          <a:xfrm>
            <a:off x="406260" y="4752208"/>
            <a:ext cx="365100" cy="365100"/>
          </a:xfrm>
          <a:prstGeom prst="ellipse">
            <a:avLst/>
          </a:prstGeom>
          <a:solidFill>
            <a:schemeClr val="accent6">
              <a:alpha val="28627"/>
            </a:schemeClr>
          </a:solidFill>
          <a:ln cap="flat" cmpd="sng" w="2857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16" name="Google Shape;216;g311fd835375_0_498"/>
          <p:cNvGrpSpPr/>
          <p:nvPr/>
        </p:nvGrpSpPr>
        <p:grpSpPr>
          <a:xfrm>
            <a:off x="4109417" y="5539799"/>
            <a:ext cx="975146" cy="975148"/>
            <a:chOff x="5829300" y="3162300"/>
            <a:chExt cx="532256" cy="532257"/>
          </a:xfrm>
        </p:grpSpPr>
        <p:sp>
          <p:nvSpPr>
            <p:cNvPr id="217" name="Google Shape;217;g311fd835375_0_498"/>
            <p:cNvSpPr/>
            <p:nvPr/>
          </p:nvSpPr>
          <p:spPr>
            <a:xfrm>
              <a:off x="5859208" y="3192208"/>
              <a:ext cx="112966" cy="112966"/>
            </a:xfrm>
            <a:custGeom>
              <a:rect b="b" l="l" r="r" t="t"/>
              <a:pathLst>
                <a:path extrusionOk="0" h="112966" w="112966">
                  <a:moveTo>
                    <a:pt x="112967" y="0"/>
                  </a:moveTo>
                  <a:lnTo>
                    <a:pt x="0" y="112967"/>
                  </a:lnTo>
                  <a:cubicBezTo>
                    <a:pt x="25356" y="64747"/>
                    <a:pt x="64747" y="25356"/>
                    <a:pt x="11296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g311fd835375_0_498"/>
            <p:cNvSpPr/>
            <p:nvPr/>
          </p:nvSpPr>
          <p:spPr>
            <a:xfrm>
              <a:off x="5831205" y="3164205"/>
              <a:ext cx="230314" cy="230314"/>
            </a:xfrm>
            <a:custGeom>
              <a:rect b="b" l="l" r="r" t="t"/>
              <a:pathLst>
                <a:path extrusionOk="0" h="230314" w="230314">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g311fd835375_0_498"/>
            <p:cNvSpPr/>
            <p:nvPr/>
          </p:nvSpPr>
          <p:spPr>
            <a:xfrm>
              <a:off x="5829300" y="3162300"/>
              <a:ext cx="294131" cy="294131"/>
            </a:xfrm>
            <a:custGeom>
              <a:rect b="b" l="l" r="r" t="t"/>
              <a:pathLst>
                <a:path extrusionOk="0" h="294131" w="294131">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g311fd835375_0_498"/>
            <p:cNvSpPr/>
            <p:nvPr/>
          </p:nvSpPr>
          <p:spPr>
            <a:xfrm>
              <a:off x="5837205" y="3170110"/>
              <a:ext cx="337184" cy="337280"/>
            </a:xfrm>
            <a:custGeom>
              <a:rect b="b" l="l" r="r" t="t"/>
              <a:pathLst>
                <a:path extrusionOk="0" h="337280" w="337184">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1" name="Google Shape;221;g311fd835375_0_498"/>
            <p:cNvSpPr/>
            <p:nvPr/>
          </p:nvSpPr>
          <p:spPr>
            <a:xfrm>
              <a:off x="5853207" y="3186207"/>
              <a:ext cx="364617" cy="364617"/>
            </a:xfrm>
            <a:custGeom>
              <a:rect b="b" l="l" r="r" t="t"/>
              <a:pathLst>
                <a:path extrusionOk="0" h="364617" w="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2" name="Google Shape;222;g311fd835375_0_498"/>
            <p:cNvSpPr/>
            <p:nvPr/>
          </p:nvSpPr>
          <p:spPr>
            <a:xfrm>
              <a:off x="5875305" y="3208305"/>
              <a:ext cx="380238" cy="380238"/>
            </a:xfrm>
            <a:custGeom>
              <a:rect b="b" l="l" r="r" t="t"/>
              <a:pathLst>
                <a:path extrusionOk="0" h="380238" w="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3" name="Google Shape;223;g311fd835375_0_498"/>
            <p:cNvSpPr/>
            <p:nvPr/>
          </p:nvSpPr>
          <p:spPr>
            <a:xfrm>
              <a:off x="5902832" y="3235832"/>
              <a:ext cx="385191" cy="385191"/>
            </a:xfrm>
            <a:custGeom>
              <a:rect b="b" l="l" r="r" t="t"/>
              <a:pathLst>
                <a:path extrusionOk="0" h="385191" w="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 name="Google Shape;224;g311fd835375_0_498"/>
            <p:cNvSpPr/>
            <p:nvPr/>
          </p:nvSpPr>
          <p:spPr>
            <a:xfrm>
              <a:off x="5935789" y="3268313"/>
              <a:ext cx="379761" cy="380237"/>
            </a:xfrm>
            <a:custGeom>
              <a:rect b="b" l="l" r="r" t="t"/>
              <a:pathLst>
                <a:path extrusionOk="0" h="380237" w="379761">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5" name="Google Shape;225;g311fd835375_0_498"/>
            <p:cNvSpPr/>
            <p:nvPr/>
          </p:nvSpPr>
          <p:spPr>
            <a:xfrm>
              <a:off x="5972841" y="3305841"/>
              <a:ext cx="364807" cy="364807"/>
            </a:xfrm>
            <a:custGeom>
              <a:rect b="b" l="l" r="r" t="t"/>
              <a:pathLst>
                <a:path extrusionOk="0" h="364807" w="364807">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6" name="Google Shape;226;g311fd835375_0_498"/>
            <p:cNvSpPr/>
            <p:nvPr/>
          </p:nvSpPr>
          <p:spPr>
            <a:xfrm>
              <a:off x="6016370" y="3349466"/>
              <a:ext cx="337280" cy="337280"/>
            </a:xfrm>
            <a:custGeom>
              <a:rect b="b" l="l" r="r" t="t"/>
              <a:pathLst>
                <a:path extrusionOk="0" h="337280" w="33728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7" name="Google Shape;227;g311fd835375_0_498"/>
            <p:cNvSpPr/>
            <p:nvPr/>
          </p:nvSpPr>
          <p:spPr>
            <a:xfrm>
              <a:off x="6067329" y="3400425"/>
              <a:ext cx="294227" cy="294132"/>
            </a:xfrm>
            <a:custGeom>
              <a:rect b="b" l="l" r="r" t="t"/>
              <a:pathLst>
                <a:path extrusionOk="0" h="294132" w="294227">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8" name="Google Shape;228;g311fd835375_0_498"/>
            <p:cNvSpPr/>
            <p:nvPr/>
          </p:nvSpPr>
          <p:spPr>
            <a:xfrm>
              <a:off x="6129337" y="3462337"/>
              <a:ext cx="230314" cy="230314"/>
            </a:xfrm>
            <a:custGeom>
              <a:rect b="b" l="l" r="r" t="t"/>
              <a:pathLst>
                <a:path extrusionOk="0" h="230314" w="230314">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9" name="Google Shape;229;g311fd835375_0_498"/>
            <p:cNvSpPr/>
            <p:nvPr/>
          </p:nvSpPr>
          <p:spPr>
            <a:xfrm>
              <a:off x="6218682" y="3551682"/>
              <a:ext cx="112871" cy="112871"/>
            </a:xfrm>
            <a:custGeom>
              <a:rect b="b" l="l" r="r" t="t"/>
              <a:pathLst>
                <a:path extrusionOk="0" h="112871" w="112871">
                  <a:moveTo>
                    <a:pt x="112871" y="0"/>
                  </a:moveTo>
                  <a:cubicBezTo>
                    <a:pt x="87618" y="48239"/>
                    <a:pt x="48239" y="87618"/>
                    <a:pt x="0" y="1128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30" name="Google Shape;230;g311fd835375_0_498"/>
          <p:cNvGrpSpPr/>
          <p:nvPr/>
        </p:nvGrpSpPr>
        <p:grpSpPr>
          <a:xfrm>
            <a:off x="5410645" y="488575"/>
            <a:ext cx="6448735" cy="5856740"/>
            <a:chOff x="-73494" y="11035"/>
            <a:chExt cx="6448735" cy="5856740"/>
          </a:xfrm>
        </p:grpSpPr>
        <p:sp>
          <p:nvSpPr>
            <p:cNvPr id="231" name="Google Shape;231;g311fd835375_0_498"/>
            <p:cNvSpPr/>
            <p:nvPr/>
          </p:nvSpPr>
          <p:spPr>
            <a:xfrm>
              <a:off x="-73494" y="11035"/>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g311fd835375_0_498"/>
            <p:cNvSpPr/>
            <p:nvPr/>
          </p:nvSpPr>
          <p:spPr>
            <a:xfrm>
              <a:off x="299486" y="288460"/>
              <a:ext cx="678000" cy="678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311fd835375_0_498"/>
            <p:cNvSpPr/>
            <p:nvPr/>
          </p:nvSpPr>
          <p:spPr>
            <a:xfrm>
              <a:off x="1350617" y="11035"/>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g311fd835375_0_498"/>
            <p:cNvSpPr txBox="1"/>
            <p:nvPr/>
          </p:nvSpPr>
          <p:spPr>
            <a:xfrm>
              <a:off x="1350617" y="11035"/>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Join us for the next sessions</a:t>
              </a:r>
              <a:endParaRPr b="0" i="0" sz="1400" u="none" cap="none" strike="noStrike">
                <a:solidFill>
                  <a:srgbClr val="000000"/>
                </a:solidFill>
                <a:latin typeface="Arial"/>
                <a:ea typeface="Arial"/>
                <a:cs typeface="Arial"/>
                <a:sym typeface="Arial"/>
              </a:endParaRPr>
            </a:p>
          </p:txBody>
        </p:sp>
        <p:sp>
          <p:nvSpPr>
            <p:cNvPr id="235" name="Google Shape;235;g311fd835375_0_498"/>
            <p:cNvSpPr/>
            <p:nvPr/>
          </p:nvSpPr>
          <p:spPr>
            <a:xfrm>
              <a:off x="-73494" y="1552282"/>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11fd835375_0_498"/>
            <p:cNvSpPr/>
            <p:nvPr/>
          </p:nvSpPr>
          <p:spPr>
            <a:xfrm>
              <a:off x="299486" y="1829706"/>
              <a:ext cx="678000" cy="678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g311fd835375_0_498"/>
            <p:cNvSpPr/>
            <p:nvPr/>
          </p:nvSpPr>
          <p:spPr>
            <a:xfrm>
              <a:off x="1350617" y="1552282"/>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311fd835375_0_498"/>
            <p:cNvSpPr txBox="1"/>
            <p:nvPr/>
          </p:nvSpPr>
          <p:spPr>
            <a:xfrm>
              <a:off x="1350617" y="1552282"/>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Thursdays: </a:t>
              </a:r>
              <a:r>
                <a:rPr b="0" i="0" lang="en-US" sz="1600" u="none" cap="none" strike="noStrike">
                  <a:solidFill>
                    <a:schemeClr val="dk1"/>
                  </a:solidFill>
                  <a:latin typeface="Arial"/>
                  <a:ea typeface="Arial"/>
                  <a:cs typeface="Arial"/>
                  <a:sym typeface="Arial"/>
                </a:rPr>
                <a:t>11AM – 12PM  &amp; 2PM – 3PM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6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Friday: </a:t>
              </a:r>
              <a:r>
                <a:rPr b="0" i="0" lang="en-US" sz="1600" u="none" cap="none" strike="noStrike">
                  <a:solidFill>
                    <a:schemeClr val="dk1"/>
                  </a:solidFill>
                  <a:latin typeface="Arial"/>
                  <a:ea typeface="Arial"/>
                  <a:cs typeface="Arial"/>
                  <a:sym typeface="Arial"/>
                </a:rPr>
                <a:t>3PM – 4PM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56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Monday: </a:t>
              </a:r>
              <a:r>
                <a:rPr b="0" i="0" lang="en-US" sz="1600" u="none" cap="none" strike="noStrike">
                  <a:solidFill>
                    <a:schemeClr val="dk1"/>
                  </a:solidFill>
                  <a:latin typeface="Arial"/>
                  <a:ea typeface="Arial"/>
                  <a:cs typeface="Arial"/>
                  <a:sym typeface="Arial"/>
                </a:rPr>
                <a:t>12PM – 1PM</a:t>
              </a:r>
              <a:endParaRPr b="0" i="0" sz="1400" u="none" cap="none" strike="noStrike">
                <a:solidFill>
                  <a:srgbClr val="000000"/>
                </a:solidFill>
                <a:latin typeface="Arial"/>
                <a:ea typeface="Arial"/>
                <a:cs typeface="Arial"/>
                <a:sym typeface="Arial"/>
              </a:endParaRPr>
            </a:p>
          </p:txBody>
        </p:sp>
        <p:sp>
          <p:nvSpPr>
            <p:cNvPr id="239" name="Google Shape;239;g311fd835375_0_498"/>
            <p:cNvSpPr/>
            <p:nvPr/>
          </p:nvSpPr>
          <p:spPr>
            <a:xfrm>
              <a:off x="-73494" y="3093529"/>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11fd835375_0_498"/>
            <p:cNvSpPr/>
            <p:nvPr/>
          </p:nvSpPr>
          <p:spPr>
            <a:xfrm>
              <a:off x="299486" y="3370953"/>
              <a:ext cx="678000" cy="678000"/>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g311fd835375_0_498"/>
            <p:cNvSpPr/>
            <p:nvPr/>
          </p:nvSpPr>
          <p:spPr>
            <a:xfrm>
              <a:off x="1350617" y="3093529"/>
              <a:ext cx="48747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311fd835375_0_498"/>
            <p:cNvSpPr txBox="1"/>
            <p:nvPr/>
          </p:nvSpPr>
          <p:spPr>
            <a:xfrm>
              <a:off x="1350617" y="3093529"/>
              <a:ext cx="48747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RSVP lu.ma/CODECRUNCH</a:t>
              </a:r>
              <a:endParaRPr b="0" i="0" sz="1400" u="none" cap="none" strike="noStrike">
                <a:solidFill>
                  <a:srgbClr val="000000"/>
                </a:solidFill>
                <a:latin typeface="Arial"/>
                <a:ea typeface="Arial"/>
                <a:cs typeface="Arial"/>
                <a:sym typeface="Arial"/>
              </a:endParaRPr>
            </a:p>
          </p:txBody>
        </p:sp>
        <p:sp>
          <p:nvSpPr>
            <p:cNvPr id="243" name="Google Shape;243;g311fd835375_0_498"/>
            <p:cNvSpPr/>
            <p:nvPr/>
          </p:nvSpPr>
          <p:spPr>
            <a:xfrm>
              <a:off x="-73494" y="4634775"/>
              <a:ext cx="6301500" cy="12330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g311fd835375_0_498"/>
            <p:cNvSpPr/>
            <p:nvPr/>
          </p:nvSpPr>
          <p:spPr>
            <a:xfrm>
              <a:off x="299486" y="4912200"/>
              <a:ext cx="678000" cy="678000"/>
            </a:xfrm>
            <a:prstGeom prst="rect">
              <a:avLst/>
            </a:prstGeom>
            <a:blipFill rotWithShape="1">
              <a:blip r:embed="rId6">
                <a:alphaModFix/>
              </a:blip>
              <a:stretch>
                <a:fillRect b="0" l="0" r="0" t="0"/>
              </a:stretch>
            </a:blipFill>
            <a:ln cap="flat" cmpd="sng" w="19050">
              <a:solidFill>
                <a:schemeClr val="lt1">
                  <a:alpha val="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311fd835375_0_498"/>
            <p:cNvSpPr/>
            <p:nvPr/>
          </p:nvSpPr>
          <p:spPr>
            <a:xfrm>
              <a:off x="1200841" y="4634775"/>
              <a:ext cx="5174400" cy="1233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311fd835375_0_498"/>
            <p:cNvSpPr txBox="1"/>
            <p:nvPr/>
          </p:nvSpPr>
          <p:spPr>
            <a:xfrm>
              <a:off x="1200841" y="4634775"/>
              <a:ext cx="5174400" cy="1233000"/>
            </a:xfrm>
            <a:prstGeom prst="rect">
              <a:avLst/>
            </a:prstGeom>
            <a:noFill/>
            <a:ln>
              <a:noFill/>
            </a:ln>
          </p:spPr>
          <p:txBody>
            <a:bodyPr anchorCtr="0" anchor="ctr" bIns="130475" lIns="130475" spcFirstLastPara="1" rIns="130475" wrap="square" tIns="130475">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Your feedback helps us improve. Share your thoughts!</a:t>
              </a:r>
              <a:br>
                <a:rPr b="0" i="0" lang="en-US" sz="1800" u="none" cap="none" strike="noStrike">
                  <a:solidFill>
                    <a:schemeClr val="dk1"/>
                  </a:solidFill>
                  <a:latin typeface="Arial"/>
                  <a:ea typeface="Arial"/>
                  <a:cs typeface="Arial"/>
                  <a:sym typeface="Arial"/>
                </a:rPr>
              </a:br>
              <a:r>
                <a:rPr b="1" i="0" lang="en-US" sz="1800" u="none" cap="none" strike="noStrike">
                  <a:solidFill>
                    <a:schemeClr val="dk1"/>
                  </a:solidFill>
                  <a:latin typeface="Arial"/>
                  <a:ea typeface="Arial"/>
                  <a:cs typeface="Arial"/>
                  <a:sym typeface="Arial"/>
                </a:rPr>
                <a:t>Go to our website: </a:t>
              </a:r>
              <a:r>
                <a:rPr b="0" i="0" lang="en-US" sz="1800" u="none" cap="none" strike="noStrike">
                  <a:solidFill>
                    <a:schemeClr val="dk1"/>
                  </a:solidFill>
                  <a:latin typeface="Arial"/>
                  <a:ea typeface="Arial"/>
                  <a:cs typeface="Arial"/>
                  <a:sym typeface="Arial"/>
                </a:rPr>
                <a:t>go.fiu.edu/codecrunch</a:t>
              </a:r>
              <a:endParaRPr b="0" i="0" sz="1800" u="none" cap="none" strike="noStrike">
                <a:solidFill>
                  <a:schemeClr val="dk1"/>
                </a:solidFill>
                <a:latin typeface="Arial"/>
                <a:ea typeface="Arial"/>
                <a:cs typeface="Arial"/>
                <a:sym typeface="Arial"/>
              </a:endParaRPr>
            </a:p>
          </p:txBody>
        </p:sp>
      </p:grpSp>
      <p:pic>
        <p:nvPicPr>
          <p:cNvPr id="247" name="Google Shape;247;g311fd835375_0_498"/>
          <p:cNvPicPr preferRelativeResize="0"/>
          <p:nvPr/>
        </p:nvPicPr>
        <p:blipFill rotWithShape="1">
          <a:blip r:embed="rId7">
            <a:alphaModFix/>
          </a:blip>
          <a:srcRect b="0" l="0" r="0" t="0"/>
          <a:stretch/>
        </p:blipFill>
        <p:spPr>
          <a:xfrm>
            <a:off x="1709369" y="4633800"/>
            <a:ext cx="1461966" cy="1446766"/>
          </a:xfrm>
          <a:prstGeom prst="rect">
            <a:avLst/>
          </a:prstGeom>
          <a:noFill/>
          <a:ln>
            <a:noFill/>
          </a:ln>
        </p:spPr>
      </p:pic>
      <p:pic>
        <p:nvPicPr>
          <p:cNvPr id="248" name="Google Shape;248;g311fd835375_0_498"/>
          <p:cNvPicPr preferRelativeResize="0"/>
          <p:nvPr/>
        </p:nvPicPr>
        <p:blipFill rotWithShape="1">
          <a:blip r:embed="rId8">
            <a:alphaModFix/>
          </a:blip>
          <a:srcRect b="0" l="0" r="0" t="0"/>
          <a:stretch/>
        </p:blipFill>
        <p:spPr>
          <a:xfrm>
            <a:off x="1359351" y="1084525"/>
            <a:ext cx="2171899" cy="2171926"/>
          </a:xfrm>
          <a:prstGeom prst="rect">
            <a:avLst/>
          </a:prstGeom>
          <a:noFill/>
          <a:ln>
            <a:noFill/>
          </a:ln>
        </p:spPr>
      </p:pic>
      <p:sp>
        <p:nvSpPr>
          <p:cNvPr id="249" name="Google Shape;249;g311fd835375_0_498"/>
          <p:cNvSpPr txBox="1"/>
          <p:nvPr/>
        </p:nvSpPr>
        <p:spPr>
          <a:xfrm>
            <a:off x="987333" y="6257233"/>
            <a:ext cx="3122700" cy="4896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chemeClr val="lt1"/>
                </a:solidFill>
                <a:latin typeface="Arial"/>
                <a:ea typeface="Arial"/>
                <a:cs typeface="Arial"/>
                <a:sym typeface="Arial"/>
              </a:rPr>
              <a:t>linktr.ee/CODE.CRUNCH</a:t>
            </a:r>
            <a:endParaRPr b="0" i="0" sz="2000" u="none" cap="none" strike="noStrike">
              <a:solidFill>
                <a:schemeClr val="lt1"/>
              </a:solidFill>
              <a:latin typeface="Arial"/>
              <a:ea typeface="Arial"/>
              <a:cs typeface="Arial"/>
              <a:sym typeface="Arial"/>
            </a:endParaRPr>
          </a:p>
        </p:txBody>
      </p:sp>
      <p:pic>
        <p:nvPicPr>
          <p:cNvPr id="250" name="Google Shape;250;g311fd835375_0_498"/>
          <p:cNvPicPr preferRelativeResize="0"/>
          <p:nvPr/>
        </p:nvPicPr>
        <p:blipFill rotWithShape="1">
          <a:blip r:embed="rId9">
            <a:alphaModFix/>
          </a:blip>
          <a:srcRect b="0" l="0" r="0" t="0"/>
          <a:stretch/>
        </p:blipFill>
        <p:spPr>
          <a:xfrm>
            <a:off x="481133" y="6149367"/>
            <a:ext cx="489600" cy="489600"/>
          </a:xfrm>
          <a:prstGeom prst="rect">
            <a:avLst/>
          </a:prstGeom>
          <a:solidFill>
            <a:srgbClr val="FFFFFF"/>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2024-09-23T23:44:58Z</dcterms:created>
  <dc:creator>Amilcar Pena</dc:creator>
</cp:coreProperties>
</file>